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2.xml" ContentType="application/vnd.openxmlformats-officedocument.presentationml.slide+xml"/>
  <Override PartName="/ppt/slides/slide6.xml" ContentType="application/vnd.openxmlformats-officedocument.presentationml.slide+xml"/>
  <Override PartName="/ppt/slides/slide11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7400" cy="4524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7400" cy="4524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29D302CD-D98C-42B7-808E-DE31D7DD947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200" cy="63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200" cy="39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0640" cy="63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0640" cy="39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7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8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A8AD439F-331E-4DDE-AA18-56A22D72B0F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289F35BB-D7AF-4EEE-98C5-2D74520C745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A79877AB-044A-45F0-8D57-BA3F2C6BD88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36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text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36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080" cy="116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</a:t>
            </a: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title </a:t>
            </a: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0560" cy="585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080" cy="4690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548F888A-A8DF-43DC-9FA0-C61AD76DADB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5320" cy="56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5320" cy="803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8E995674-0C63-4323-8BE5-0EB3760C12A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1320" cy="1468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DB2A8906-F4B0-4883-840C-9546257790E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78513F20-A246-4A42-A5FC-D66C44F2AC2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6320" cy="585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8840" cy="585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1ED7E16B-C707-47A4-9466-F2AB306A103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A73B8F69-5CB0-49D2-872C-64239F8D7CB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1320" cy="1361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1320" cy="1499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210DBB7E-39DB-4B51-93E1-CD3E7B90D17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4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Box 2"/>
          <p:cNvSpPr/>
          <p:nvPr/>
        </p:nvSpPr>
        <p:spPr>
          <a:xfrm>
            <a:off x="320040" y="1463040"/>
            <a:ext cx="1155060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Scotlan</a:t>
            </a: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 Yard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3"/>
          <p:cNvSpPr/>
          <p:nvPr/>
        </p:nvSpPr>
        <p:spPr>
          <a:xfrm>
            <a:off x="320040" y="2468880"/>
            <a:ext cx="115506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0" i="1" u="none" strike="noStrike">
                <a:solidFill>
                  <a:srgbClr val="60A5FA"/>
                </a:solidFill>
                <a:effectLst/>
                <a:uFillTx/>
                <a:latin typeface="Calibri"/>
              </a:rPr>
              <a:t>Wellington Edition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5"/>
          <p:cNvSpPr/>
          <p:nvPr/>
        </p:nvSpPr>
        <p:spPr>
          <a:xfrm>
            <a:off x="320040" y="5852160"/>
            <a:ext cx="115506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Ming Bao  ·  ENGR489  ·  Victoria University of Wellington  ·  June 2026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Oval 6"/>
          <p:cNvSpPr/>
          <p:nvPr/>
        </p:nvSpPr>
        <p:spPr>
          <a:xfrm>
            <a:off x="10314360" y="896040"/>
            <a:ext cx="401400" cy="401400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" name="Oval 7"/>
          <p:cNvSpPr/>
          <p:nvPr/>
        </p:nvSpPr>
        <p:spPr>
          <a:xfrm>
            <a:off x="10991160" y="1755720"/>
            <a:ext cx="327960" cy="327960"/>
          </a:xfrm>
          <a:prstGeom prst="ellipse">
            <a:avLst/>
          </a:prstGeom>
          <a:solidFill>
            <a:srgbClr val="1E293B"/>
          </a:solidFill>
          <a:ln>
            <a:solidFill>
              <a:srgbClr val="2563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" name="Oval 8"/>
          <p:cNvSpPr/>
          <p:nvPr/>
        </p:nvSpPr>
        <p:spPr>
          <a:xfrm>
            <a:off x="9921240" y="2148840"/>
            <a:ext cx="273240" cy="273240"/>
          </a:xfrm>
          <a:prstGeom prst="ellipse">
            <a:avLst/>
          </a:prstGeom>
          <a:solidFill>
            <a:srgbClr val="1E293B"/>
          </a:solidFill>
          <a:ln>
            <a:solidFill>
              <a:srgbClr val="2563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7" name="Oval 9"/>
          <p:cNvSpPr/>
          <p:nvPr/>
        </p:nvSpPr>
        <p:spPr>
          <a:xfrm>
            <a:off x="11411640" y="804600"/>
            <a:ext cx="218520" cy="218520"/>
          </a:xfrm>
          <a:prstGeom prst="ellipse">
            <a:avLst/>
          </a:prstGeom>
          <a:solidFill>
            <a:srgbClr val="1E293B"/>
          </a:solidFill>
          <a:ln>
            <a:solidFill>
              <a:srgbClr val="2563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Rectangle 1"/>
          <p:cNvSpPr/>
          <p:nvPr/>
        </p:nvSpPr>
        <p:spPr>
          <a:xfrm>
            <a:off x="502920" y="320040"/>
            <a:ext cx="63000" cy="3657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1680" tIns="45000" rIns="316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" name="TextBox 2"/>
          <p:cNvSpPr/>
          <p:nvPr/>
        </p:nvSpPr>
        <p:spPr>
          <a:xfrm>
            <a:off x="667440" y="274320"/>
            <a:ext cx="1118484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The Problem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4"/>
          <p:cNvSpPr/>
          <p:nvPr/>
        </p:nvSpPr>
        <p:spPr>
          <a:xfrm>
            <a:off x="502920" y="1353240"/>
            <a:ext cx="11184840" cy="62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Scotland Yard (1983) is a classic hidden-movement deduction game — physical board only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502920" y="1668240"/>
            <a:ext cx="11184840" cy="62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Existing digital versions (Board Game Arena, Steam) use fictional maps — no real geography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7"/>
          <p:cNvSpPr/>
          <p:nvPr/>
        </p:nvSpPr>
        <p:spPr>
          <a:xfrm>
            <a:off x="502920" y="2057400"/>
            <a:ext cx="111848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SWEN capstone projects at VUW are rarely suitable for open days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8"/>
          <p:cNvSpPr/>
          <p:nvPr/>
        </p:nvSpPr>
        <p:spPr>
          <a:xfrm>
            <a:off x="502920" y="2435760"/>
            <a:ext cx="11184840" cy="62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Gap:** No web-based platform for Scotland Yard on a real city map, in real time, in a browser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Rectangle 9"/>
          <p:cNvSpPr/>
          <p:nvPr/>
        </p:nvSpPr>
        <p:spPr>
          <a:xfrm>
            <a:off x="457200" y="3914640"/>
            <a:ext cx="11184840" cy="657360"/>
          </a:xfrm>
          <a:prstGeom prst="rect">
            <a:avLst/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" name="TextBox 10"/>
          <p:cNvSpPr/>
          <p:nvPr/>
        </p:nvSpPr>
        <p:spPr>
          <a:xfrm>
            <a:off x="640080" y="3960360"/>
            <a:ext cx="108190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60A5FA"/>
                </a:solidFill>
                <a:effectLst/>
                <a:uFillTx/>
                <a:latin typeface="Calibri"/>
              </a:rPr>
              <a:t>Goal:  Build a multiplayer Scotland Yard game on Wellington's real transport network — playable in a browser, and visually striking enough to be a department showpiece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 1"/>
          <p:cNvSpPr/>
          <p:nvPr/>
        </p:nvSpPr>
        <p:spPr>
          <a:xfrm>
            <a:off x="502920" y="320040"/>
            <a:ext cx="63000" cy="3657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1680" tIns="45000" rIns="316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" name="TextBox 2"/>
          <p:cNvSpPr/>
          <p:nvPr/>
        </p:nvSpPr>
        <p:spPr>
          <a:xfrm>
            <a:off x="667440" y="274320"/>
            <a:ext cx="1118484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Background Research: Related Work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457200" y="914400"/>
            <a:ext cx="11430000" cy="5486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6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Existing website: https://ssy.pvx.sk/ 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	</a:t>
            </a:r>
            <a:r>
              <a:rPr lang="en-US" sz="16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- played through QR codes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Tabletop Simulator from steam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	</a:t>
            </a:r>
            <a:r>
              <a:rPr lang="en-US" sz="16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- requires TT sim: $29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	</a:t>
            </a:r>
            <a:r>
              <a:rPr lang="en-US" sz="16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- not automated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Scotland yard game on steam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	</a:t>
            </a:r>
            <a:r>
              <a:rPr lang="en-US" sz="16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- mostly negative reviews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	</a:t>
            </a:r>
            <a:r>
              <a:rPr lang="en-US" sz="16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-$22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ectangle 1"/>
          <p:cNvSpPr/>
          <p:nvPr/>
        </p:nvSpPr>
        <p:spPr>
          <a:xfrm>
            <a:off x="502920" y="320040"/>
            <a:ext cx="63000" cy="36540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1680" tIns="45000" rIns="316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TextBox 2"/>
          <p:cNvSpPr/>
          <p:nvPr/>
        </p:nvSpPr>
        <p:spPr>
          <a:xfrm>
            <a:off x="667440" y="274320"/>
            <a:ext cx="1118484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Map Library Evaluation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1" name=""/>
          <p:cNvPicPr/>
          <p:nvPr/>
        </p:nvPicPr>
        <p:blipFill>
          <a:blip r:embed="rId1"/>
          <a:stretch/>
        </p:blipFill>
        <p:spPr>
          <a:xfrm>
            <a:off x="2847960" y="914400"/>
            <a:ext cx="6524280" cy="5486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ectangle 1"/>
          <p:cNvSpPr/>
          <p:nvPr/>
        </p:nvSpPr>
        <p:spPr>
          <a:xfrm>
            <a:off x="502920" y="320040"/>
            <a:ext cx="63000" cy="36540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1680" tIns="45000" rIns="316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" name="TextBox 2"/>
          <p:cNvSpPr/>
          <p:nvPr/>
        </p:nvSpPr>
        <p:spPr>
          <a:xfrm>
            <a:off x="667440" y="274320"/>
            <a:ext cx="11184840" cy="94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Tech Stack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Rectangle 4"/>
          <p:cNvSpPr/>
          <p:nvPr/>
        </p:nvSpPr>
        <p:spPr>
          <a:xfrm>
            <a:off x="502920" y="914400"/>
            <a:ext cx="11184840" cy="474480"/>
          </a:xfrm>
          <a:prstGeom prst="rect">
            <a:avLst/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685800" y="914400"/>
            <a:ext cx="1081908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60A5FA"/>
                </a:solidFill>
                <a:effectLst/>
                <a:uFillTx/>
                <a:latin typeface="Calibri"/>
              </a:rPr>
              <a:t>AI-assisted development:  Claude Code (Anthropic's CLI) — architecture decisions, code generation, test writing. All output is reviewed and owned. This is how modern engineers work.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6" name="Table 6"/>
          <p:cNvGraphicFramePr/>
          <p:nvPr/>
        </p:nvGraphicFramePr>
        <p:xfrm>
          <a:off x="502920" y="1518480"/>
          <a:ext cx="10652400" cy="2046240"/>
        </p:xfrm>
        <a:graphic>
          <a:graphicData uri="http://schemas.openxmlformats.org/drawingml/2006/table">
            <a:tbl>
              <a:tblPr/>
              <a:tblGrid>
                <a:gridCol w="1828800"/>
                <a:gridCol w="3291840"/>
                <a:gridCol w="5532120"/>
              </a:tblGrid>
              <a:tr h="292320"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Layer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Tool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Why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Backend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Java 21 + Spring Boot 4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Industry standard; WebSocket/STOMP built-in, familiarity 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Frontend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Vue 3 + TypeScript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  <a:ea typeface="Noto Sans CJK SC"/>
                        </a:rPr>
                        <a:t>Reactive, typed, composable, </a:t>
                      </a: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familiarity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Map API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MapLibre GL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Prev Slide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Communication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STOMP over SockJS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Spring's native WebSocket protocol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Deployment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Docker, home server, cloudflare  (planned T2)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Reproducible deploys, free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Testing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JUnit 5 + Mockito + AssertJ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Standard Java test stack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Rectangle 1"/>
          <p:cNvSpPr/>
          <p:nvPr/>
        </p:nvSpPr>
        <p:spPr>
          <a:xfrm>
            <a:off x="502920" y="320040"/>
            <a:ext cx="63000" cy="3657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1680" tIns="45000" rIns="316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" name="TextBox 2"/>
          <p:cNvSpPr/>
          <p:nvPr/>
        </p:nvSpPr>
        <p:spPr>
          <a:xfrm>
            <a:off x="667440" y="274320"/>
            <a:ext cx="1118484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System Architecture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9" name=""/>
          <p:cNvPicPr/>
          <p:nvPr/>
        </p:nvPicPr>
        <p:blipFill>
          <a:blip r:embed="rId1"/>
          <a:stretch/>
        </p:blipFill>
        <p:spPr>
          <a:xfrm>
            <a:off x="2505600" y="1219680"/>
            <a:ext cx="6867000" cy="5181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Rectangle 1"/>
          <p:cNvSpPr/>
          <p:nvPr/>
        </p:nvSpPr>
        <p:spPr>
          <a:xfrm>
            <a:off x="502920" y="320040"/>
            <a:ext cx="63000" cy="82188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1680" tIns="45000" rIns="316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1" name="TextBox 2"/>
          <p:cNvSpPr/>
          <p:nvPr/>
        </p:nvSpPr>
        <p:spPr>
          <a:xfrm>
            <a:off x="667440" y="274320"/>
            <a:ext cx="1118484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What's Been Built: Backend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3"/>
          <p:cNvSpPr/>
          <p:nvPr/>
        </p:nvSpPr>
        <p:spPr>
          <a:xfrm>
            <a:off x="667440" y="841320"/>
            <a:ext cx="11184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i="1" u="none" strike="noStrike">
                <a:solidFill>
                  <a:srgbClr val="60A5FA"/>
                </a:solidFill>
                <a:effectLst/>
                <a:uFillTx/>
                <a:latin typeface="Calibri"/>
              </a:rPr>
              <a:t>Sprint 1–2 complete — Lobby + Role Assignment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3" name="Table 4"/>
          <p:cNvGraphicFramePr/>
          <p:nvPr/>
        </p:nvGraphicFramePr>
        <p:xfrm>
          <a:off x="502920" y="1307520"/>
          <a:ext cx="10652400" cy="2046240"/>
        </p:xfrm>
        <a:graphic>
          <a:graphicData uri="http://schemas.openxmlformats.org/drawingml/2006/table">
            <a:tbl>
              <a:tblPr/>
              <a:tblGrid>
                <a:gridCol w="1097280"/>
                <a:gridCol w="4846320"/>
                <a:gridCol w="4709160"/>
              </a:tblGrid>
              <a:tr h="292320"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Method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Path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Purpose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POST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/api/games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create game, return join code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POST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/api/games/join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join by code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GET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/api/games/{id}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get current state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POST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/api/games/{id}/start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host starts, assigns roles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DEL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/api/games/{id}/players/{pid}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leave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POST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/api/games/{id}/players/{pid}/kick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host kicks player from lobby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94" name="TextBox 5"/>
          <p:cNvSpPr/>
          <p:nvPr/>
        </p:nvSpPr>
        <p:spPr>
          <a:xfrm>
            <a:off x="502920" y="3520440"/>
            <a:ext cx="1118484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WebSocket: server broadcasts to /topic/games/{id} after every state change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6"/>
          <p:cNvSpPr/>
          <p:nvPr/>
        </p:nvSpPr>
        <p:spPr>
          <a:xfrm>
            <a:off x="502920" y="3776400"/>
            <a:ext cx="11184840" cy="51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OpenAPI 3.1 spec kept in sync via a pre-commit git hook — build fails if API surface changes without updating the spec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Rectangle 1"/>
          <p:cNvSpPr/>
          <p:nvPr/>
        </p:nvSpPr>
        <p:spPr>
          <a:xfrm>
            <a:off x="502920" y="320040"/>
            <a:ext cx="63000" cy="82188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1680" tIns="45000" rIns="316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7" name="TextBox 2"/>
          <p:cNvSpPr/>
          <p:nvPr/>
        </p:nvSpPr>
        <p:spPr>
          <a:xfrm>
            <a:off x="667440" y="274320"/>
            <a:ext cx="1118484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What's Been Built: Frontend + Demo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TextBox 3"/>
          <p:cNvSpPr/>
          <p:nvPr/>
        </p:nvSpPr>
        <p:spPr>
          <a:xfrm>
            <a:off x="667440" y="841320"/>
            <a:ext cx="11184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i="1" u="none" strike="noStrike">
                <a:solidFill>
                  <a:srgbClr val="60A5FA"/>
                </a:solidFill>
                <a:effectLst/>
                <a:uFillTx/>
                <a:latin typeface="Calibri"/>
              </a:rPr>
              <a:t>Working lobby flow  (live demo or video)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Rectangle 4"/>
          <p:cNvSpPr/>
          <p:nvPr/>
        </p:nvSpPr>
        <p:spPr>
          <a:xfrm>
            <a:off x="502920" y="1353240"/>
            <a:ext cx="364680" cy="34632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0" name="TextBox 5"/>
          <p:cNvSpPr/>
          <p:nvPr/>
        </p:nvSpPr>
        <p:spPr>
          <a:xfrm>
            <a:off x="502920" y="1353240"/>
            <a:ext cx="36468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6"/>
          <p:cNvSpPr/>
          <p:nvPr/>
        </p:nvSpPr>
        <p:spPr>
          <a:xfrm>
            <a:off x="960120" y="1389960"/>
            <a:ext cx="1072764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Player creates game → lands on lobby with 6-char join code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Rectangle 7"/>
          <p:cNvSpPr/>
          <p:nvPr/>
        </p:nvSpPr>
        <p:spPr>
          <a:xfrm>
            <a:off x="502920" y="1810440"/>
            <a:ext cx="364680" cy="34632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3" name="TextBox 8"/>
          <p:cNvSpPr/>
          <p:nvPr/>
        </p:nvSpPr>
        <p:spPr>
          <a:xfrm>
            <a:off x="502920" y="1810440"/>
            <a:ext cx="36468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2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9"/>
          <p:cNvSpPr/>
          <p:nvPr/>
        </p:nvSpPr>
        <p:spPr>
          <a:xfrm>
            <a:off x="960120" y="1847160"/>
            <a:ext cx="1072764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Second player joins by code → both lobbies update instantly via WebSocket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Rectangle 10"/>
          <p:cNvSpPr/>
          <p:nvPr/>
        </p:nvSpPr>
        <p:spPr>
          <a:xfrm>
            <a:off x="502920" y="2267640"/>
            <a:ext cx="364680" cy="34632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" name="TextBox 11"/>
          <p:cNvSpPr/>
          <p:nvPr/>
        </p:nvSpPr>
        <p:spPr>
          <a:xfrm>
            <a:off x="502920" y="2267640"/>
            <a:ext cx="36468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3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12"/>
          <p:cNvSpPr/>
          <p:nvPr/>
        </p:nvSpPr>
        <p:spPr>
          <a:xfrm>
            <a:off x="960120" y="2304360"/>
            <a:ext cx="1072764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Host can kick players → kicked player sees notification and is redirected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Rectangle 13"/>
          <p:cNvSpPr/>
          <p:nvPr/>
        </p:nvSpPr>
        <p:spPr>
          <a:xfrm>
            <a:off x="502920" y="2724840"/>
            <a:ext cx="364680" cy="34632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" name="TextBox 14"/>
          <p:cNvSpPr/>
          <p:nvPr/>
        </p:nvSpPr>
        <p:spPr>
          <a:xfrm>
            <a:off x="502920" y="2724840"/>
            <a:ext cx="36468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4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Box 15"/>
          <p:cNvSpPr/>
          <p:nvPr/>
        </p:nvSpPr>
        <p:spPr>
          <a:xfrm>
            <a:off x="960120" y="2761560"/>
            <a:ext cx="1072764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Host starts game → all players transition together to the game board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Rectangle 1"/>
          <p:cNvSpPr/>
          <p:nvPr/>
        </p:nvSpPr>
        <p:spPr>
          <a:xfrm>
            <a:off x="502920" y="320040"/>
            <a:ext cx="63000" cy="82188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1680" tIns="45000" rIns="316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Box 2"/>
          <p:cNvSpPr/>
          <p:nvPr/>
        </p:nvSpPr>
        <p:spPr>
          <a:xfrm>
            <a:off x="667440" y="274320"/>
            <a:ext cx="1118484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Testing Strategy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Box 3"/>
          <p:cNvSpPr/>
          <p:nvPr/>
        </p:nvSpPr>
        <p:spPr>
          <a:xfrm>
            <a:off x="667440" y="841320"/>
            <a:ext cx="11184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i="1" u="none" strike="noStrike">
                <a:solidFill>
                  <a:srgbClr val="60A5FA"/>
                </a:solidFill>
                <a:effectLst/>
                <a:uFillTx/>
                <a:latin typeface="Calibri"/>
              </a:rPr>
              <a:t>104 tests, all passing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4" name="Table 4"/>
          <p:cNvGraphicFramePr/>
          <p:nvPr/>
        </p:nvGraphicFramePr>
        <p:xfrm>
          <a:off x="502920" y="1307520"/>
          <a:ext cx="10652400" cy="1753920"/>
        </p:xfrm>
        <a:graphic>
          <a:graphicData uri="http://schemas.openxmlformats.org/drawingml/2006/table">
            <a:tbl>
              <a:tblPr/>
              <a:tblGrid>
                <a:gridCol w="2560320"/>
                <a:gridCol w="1097280"/>
                <a:gridCol w="6995160"/>
              </a:tblGrid>
              <a:tr h="292320"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Layer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Count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What they catch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Model unit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27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Ticket invariants — MrX transport stays at -1 after use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Service unit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46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State transitions, validation, broadcast call verification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Lifecycle integration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17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Full create → join → start → leave flows, real repository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Controller (HTTP)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13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Request routing, error response shape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App context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Spring context loads without errors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</a:tr>
            </a:tbl>
          </a:graphicData>
        </a:graphic>
      </p:graphicFrame>
      <p:sp>
        <p:nvSpPr>
          <p:cNvPr id="115" name="TextBox 5"/>
          <p:cNvSpPr/>
          <p:nvPr/>
        </p:nvSpPr>
        <p:spPr>
          <a:xfrm>
            <a:off x="502920" y="3246120"/>
            <a:ext cx="111848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60A5FA"/>
                </a:solidFill>
                <a:effectLst/>
                <a:uFillTx/>
                <a:latin typeface="Calibri"/>
              </a:rPr>
              <a:t>Philosophy:  Tests target specific invariants, not just happy paths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6"/>
          <p:cNvSpPr/>
          <p:nvPr/>
        </p:nvSpPr>
        <p:spPr>
          <a:xfrm>
            <a:off x="502920" y="3566160"/>
            <a:ext cx="11184840" cy="51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eg. </a:t>
            </a: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startGame_setsCurrentPlayerIdToMrX  </a:t>
            </a: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— fails if line 121 of GameService is </a:t>
            </a: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deleted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Box 7"/>
          <p:cNvSpPr/>
          <p:nvPr/>
        </p:nvSpPr>
        <p:spPr>
          <a:xfrm>
            <a:off x="502920" y="3822120"/>
            <a:ext cx="11184840" cy="51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eg. leaveGame_mrXLeaves_mrXRemovedFromPlayerList  — previous tests only checked phase, not player list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Box 8"/>
          <p:cNvSpPr/>
          <p:nvPr/>
        </p:nvSpPr>
        <p:spPr>
          <a:xfrm>
            <a:off x="502920" y="4078080"/>
            <a:ext cx="11184840" cy="51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eg. joinGame_lowercaseCodeIsNormalized  — catches </a:t>
            </a: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missing toUpperCase() in joinGame()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Box 9"/>
          <p:cNvSpPr/>
          <p:nvPr/>
        </p:nvSpPr>
        <p:spPr>
          <a:xfrm>
            <a:off x="502920" y="6537960"/>
            <a:ext cx="111848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Slide 10 / 13  ·  ~30 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Rectangle 2"/>
          <p:cNvSpPr/>
          <p:nvPr/>
        </p:nvSpPr>
        <p:spPr>
          <a:xfrm>
            <a:off x="502920" y="320040"/>
            <a:ext cx="63000" cy="3657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1680" tIns="45000" rIns="316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" name="TextBox 17"/>
          <p:cNvSpPr/>
          <p:nvPr/>
        </p:nvSpPr>
        <p:spPr>
          <a:xfrm>
            <a:off x="667440" y="274320"/>
            <a:ext cx="11184840" cy="51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Trade-offs &amp; Limitations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2" name="Table 2"/>
          <p:cNvGraphicFramePr/>
          <p:nvPr/>
        </p:nvGraphicFramePr>
        <p:xfrm>
          <a:off x="441000" y="930240"/>
          <a:ext cx="10652400" cy="1461240"/>
        </p:xfrm>
        <a:graphic>
          <a:graphicData uri="http://schemas.openxmlformats.org/drawingml/2006/table">
            <a:tbl>
              <a:tblPr/>
              <a:tblGrid>
                <a:gridCol w="2286000"/>
                <a:gridCol w="3931920"/>
                <a:gridCol w="4434840"/>
              </a:tblGrid>
              <a:tr h="292320"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Decision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Trade-off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Mitigation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No Persistency</a:t>
                      </a:r>
                      <a:endParaRPr lang="en-US" sz="1200" b="1" u="none" strike="noStrike">
                        <a:solidFill>
                          <a:srgbClr val="CBD5E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Players and games are temporary but security can be ignored to an extent</a:t>
                      </a:r>
                      <a:endParaRPr lang="en-US" sz="1200" b="0" u="none" strike="noStrike">
                        <a:solidFill>
                          <a:srgbClr val="CBD5E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Good enough for what the game is designed for</a:t>
                      </a:r>
                      <a:endParaRPr lang="en-US" sz="1200" b="0" u="none" strike="noStrike">
                        <a:solidFill>
                          <a:srgbClr val="CBD5E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No authentication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Anyone with a join code can join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By design — for open days and play with friends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WebSocket (STOMP)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More complex than REST polling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Standard Spring support; already working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Pre-computed GeoJSON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Must build Wellington graph manually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One-time effort; no per-request API cost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23" name="TextBox 25"/>
          <p:cNvSpPr/>
          <p:nvPr/>
        </p:nvSpPr>
        <p:spPr>
          <a:xfrm>
            <a:off x="457200" y="2852280"/>
            <a:ext cx="31993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EF4444"/>
                </a:solidFill>
                <a:effectLst/>
                <a:uFillTx/>
                <a:latin typeface="Calibri"/>
              </a:rPr>
              <a:t>Current limitations: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Box 26"/>
          <p:cNvSpPr/>
          <p:nvPr/>
        </p:nvSpPr>
        <p:spPr>
          <a:xfrm>
            <a:off x="473760" y="3140280"/>
            <a:ext cx="1118484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Game engine (move validation, catch detection, win conditions) not yet implemented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Box 27"/>
          <p:cNvSpPr/>
          <p:nvPr/>
        </p:nvSpPr>
        <p:spPr>
          <a:xfrm>
            <a:off x="473760" y="3368880"/>
            <a:ext cx="1118484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Wellington graph data not yet populated 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Box 28"/>
          <p:cNvSpPr/>
          <p:nvPr/>
        </p:nvSpPr>
        <p:spPr>
          <a:xfrm>
            <a:off x="473760" y="3597480"/>
            <a:ext cx="1118484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Deployment planned for T2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Rectangle 1"/>
          <p:cNvSpPr/>
          <p:nvPr/>
        </p:nvSpPr>
        <p:spPr>
          <a:xfrm>
            <a:off x="502920" y="320040"/>
            <a:ext cx="63000" cy="3657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1680" tIns="45000" rIns="316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" name="TextBox 2"/>
          <p:cNvSpPr/>
          <p:nvPr/>
        </p:nvSpPr>
        <p:spPr>
          <a:xfrm>
            <a:off x="667440" y="274320"/>
            <a:ext cx="11184840" cy="51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Progress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Box 10"/>
          <p:cNvSpPr/>
          <p:nvPr/>
        </p:nvSpPr>
        <p:spPr>
          <a:xfrm>
            <a:off x="502920" y="6537960"/>
            <a:ext cx="111848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Slide 11 / 13  ·  ~45 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0" name=""/>
          <p:cNvPicPr/>
          <p:nvPr/>
        </p:nvPicPr>
        <p:blipFill>
          <a:blip r:embed="rId1"/>
          <a:stretch/>
        </p:blipFill>
        <p:spPr>
          <a:xfrm>
            <a:off x="2286000" y="1371600"/>
            <a:ext cx="7315200" cy="4800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1" name=""/>
          <p:cNvSpPr/>
          <p:nvPr/>
        </p:nvSpPr>
        <p:spPr>
          <a:xfrm>
            <a:off x="7086600" y="1828800"/>
            <a:ext cx="73080" cy="4343400"/>
          </a:xfrm>
          <a:prstGeom prst="line">
            <a:avLst/>
          </a:prstGeom>
          <a:ln w="54720">
            <a:solidFill>
              <a:srgbClr val="C500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7360" tIns="72360" rIns="117360" bIns="7236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Rectangle 1"/>
          <p:cNvSpPr/>
          <p:nvPr/>
        </p:nvSpPr>
        <p:spPr>
          <a:xfrm>
            <a:off x="502920" y="320040"/>
            <a:ext cx="63000" cy="3657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1680" tIns="45000" rIns="316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" name="TextBox 2"/>
          <p:cNvSpPr/>
          <p:nvPr/>
        </p:nvSpPr>
        <p:spPr>
          <a:xfrm>
            <a:off x="667440" y="274320"/>
            <a:ext cx="11184840" cy="51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Future Plan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Rectangle 3"/>
          <p:cNvSpPr/>
          <p:nvPr/>
        </p:nvSpPr>
        <p:spPr>
          <a:xfrm>
            <a:off x="4261320" y="1594080"/>
            <a:ext cx="3636000" cy="346320"/>
          </a:xfrm>
          <a:prstGeom prst="rect">
            <a:avLst/>
          </a:prstGeom>
          <a:solidFill>
            <a:srgbClr val="22C55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" name="TextBox 4"/>
          <p:cNvSpPr/>
          <p:nvPr/>
        </p:nvSpPr>
        <p:spPr>
          <a:xfrm>
            <a:off x="4328640" y="1642680"/>
            <a:ext cx="354456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0F172A"/>
                </a:solidFill>
                <a:effectLst/>
                <a:uFillTx/>
                <a:latin typeface="Calibri"/>
              </a:rPr>
              <a:t>Sprint 4 — Game Engine 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Box 5"/>
          <p:cNvSpPr/>
          <p:nvPr/>
        </p:nvSpPr>
        <p:spPr>
          <a:xfrm>
            <a:off x="4255560" y="1999440"/>
            <a:ext cx="3636000" cy="43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Move validation against graph edges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Box 6"/>
          <p:cNvSpPr/>
          <p:nvPr/>
        </p:nvSpPr>
        <p:spPr>
          <a:xfrm>
            <a:off x="4255560" y="2215800"/>
            <a:ext cx="3636000" cy="43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Ticket decrement on move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Box 7"/>
          <p:cNvSpPr/>
          <p:nvPr/>
        </p:nvSpPr>
        <p:spPr>
          <a:xfrm>
            <a:off x="4255560" y="2432520"/>
            <a:ext cx="3636000" cy="43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Turn rotation  (MrX → each detective → repeat)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Box 8"/>
          <p:cNvSpPr/>
          <p:nvPr/>
        </p:nvSpPr>
        <p:spPr>
          <a:xfrm>
            <a:off x="4255560" y="2648880"/>
            <a:ext cx="3636000" cy="43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Catch detection and win conditions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Box 9"/>
          <p:cNvSpPr/>
          <p:nvPr/>
        </p:nvSpPr>
        <p:spPr>
          <a:xfrm>
            <a:off x="4255560" y="2865600"/>
            <a:ext cx="3636000" cy="43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Reveal rounds  (3, 8, 13, 18, 24)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Box 10"/>
          <p:cNvSpPr/>
          <p:nvPr/>
        </p:nvSpPr>
        <p:spPr>
          <a:xfrm>
            <a:off x="4255560" y="3081960"/>
            <a:ext cx="3636000" cy="43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Milestone:  two players complete a full round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Rectangle 11"/>
          <p:cNvSpPr/>
          <p:nvPr/>
        </p:nvSpPr>
        <p:spPr>
          <a:xfrm>
            <a:off x="457200" y="1596960"/>
            <a:ext cx="3636000" cy="34632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3" name="TextBox 12"/>
          <p:cNvSpPr/>
          <p:nvPr/>
        </p:nvSpPr>
        <p:spPr>
          <a:xfrm>
            <a:off x="530280" y="1651680"/>
            <a:ext cx="354456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0F172A"/>
                </a:solidFill>
                <a:effectLst/>
                <a:uFillTx/>
                <a:latin typeface="Calibri"/>
              </a:rPr>
              <a:t>Sprint 3 — Map + Wellington Graph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Box 13"/>
          <p:cNvSpPr/>
          <p:nvPr/>
        </p:nvSpPr>
        <p:spPr>
          <a:xfrm>
            <a:off x="457200" y="2008440"/>
            <a:ext cx="363600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Build Wellington </a:t>
            </a:r>
            <a:r>
              <a:rPr lang="en-US" sz="11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node/edge graph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Box 14"/>
          <p:cNvSpPr/>
          <p:nvPr/>
        </p:nvSpPr>
        <p:spPr>
          <a:xfrm>
            <a:off x="457200" y="2224800"/>
            <a:ext cx="3636000" cy="43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MapLibre GL rendering of nodes and edges on real map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Box 15"/>
          <p:cNvSpPr/>
          <p:nvPr/>
        </p:nvSpPr>
        <p:spPr>
          <a:xfrm>
            <a:off x="457200" y="2441520"/>
            <a:ext cx="3636000" cy="43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Node selection and ticket picker UI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Box 16"/>
          <p:cNvSpPr/>
          <p:nvPr/>
        </p:nvSpPr>
        <p:spPr>
          <a:xfrm>
            <a:off x="457200" y="2657880"/>
            <a:ext cx="3636000" cy="43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Milestone:  player selects and submits a move on the real map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Rectangle 17"/>
          <p:cNvSpPr/>
          <p:nvPr/>
        </p:nvSpPr>
        <p:spPr>
          <a:xfrm>
            <a:off x="8051760" y="1587960"/>
            <a:ext cx="3636000" cy="346320"/>
          </a:xfrm>
          <a:prstGeom prst="rect">
            <a:avLst/>
          </a:prstGeom>
          <a:solidFill>
            <a:srgbClr val="F59E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9" name="TextBox 18"/>
          <p:cNvSpPr/>
          <p:nvPr/>
        </p:nvSpPr>
        <p:spPr>
          <a:xfrm>
            <a:off x="8124840" y="1642680"/>
            <a:ext cx="354456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0F172A"/>
                </a:solidFill>
                <a:effectLst/>
                <a:uFillTx/>
                <a:latin typeface="Calibri"/>
              </a:rPr>
              <a:t>Sprint 5 — Deploy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Box 19"/>
          <p:cNvSpPr/>
          <p:nvPr/>
        </p:nvSpPr>
        <p:spPr>
          <a:xfrm>
            <a:off x="8051760" y="1999440"/>
            <a:ext cx="3636000" cy="43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Docker containerisation  (backend + frontend)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Box 20"/>
          <p:cNvSpPr/>
          <p:nvPr/>
        </p:nvSpPr>
        <p:spPr>
          <a:xfrm>
            <a:off x="8051760" y="2215800"/>
            <a:ext cx="363600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Host on home server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Box 23"/>
          <p:cNvSpPr/>
          <p:nvPr/>
        </p:nvSpPr>
        <p:spPr>
          <a:xfrm>
            <a:off x="8051760" y="2481840"/>
            <a:ext cx="3636000" cy="43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Milestone:  full game playable end-to-end by external users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Rectangle 1"/>
          <p:cNvSpPr/>
          <p:nvPr/>
        </p:nvSpPr>
        <p:spPr>
          <a:xfrm>
            <a:off x="502920" y="320040"/>
            <a:ext cx="63000" cy="82188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1680" tIns="45000" rIns="316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4" name="TextBox 2"/>
          <p:cNvSpPr/>
          <p:nvPr/>
        </p:nvSpPr>
        <p:spPr>
          <a:xfrm>
            <a:off x="667440" y="274320"/>
            <a:ext cx="1118484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Summary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Box 3"/>
          <p:cNvSpPr/>
          <p:nvPr/>
        </p:nvSpPr>
        <p:spPr>
          <a:xfrm>
            <a:off x="667440" y="841320"/>
            <a:ext cx="11184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i="1" u="none" strike="noStrike">
                <a:solidFill>
                  <a:srgbClr val="60A5FA"/>
                </a:solidFill>
                <a:effectLst/>
                <a:uFillTx/>
                <a:latin typeface="Calibri"/>
              </a:rPr>
              <a:t>Where we are at end of Trimester 1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Box 4"/>
          <p:cNvSpPr/>
          <p:nvPr/>
        </p:nvSpPr>
        <p:spPr>
          <a:xfrm>
            <a:off x="502920" y="1353240"/>
            <a:ext cx="11184840" cy="62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22C55E"/>
                </a:solidFill>
                <a:effectLst/>
                <a:uFillTx/>
                <a:latin typeface="Calibri"/>
              </a:rPr>
              <a:t>• ✅ Full specification written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Box 5"/>
          <p:cNvSpPr/>
          <p:nvPr/>
        </p:nvSpPr>
        <p:spPr>
          <a:xfrm>
            <a:off x="502920" y="1668240"/>
            <a:ext cx="11184840" cy="62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22C55E"/>
                </a:solidFill>
                <a:effectLst/>
                <a:uFillTx/>
                <a:latin typeface="Calibri"/>
              </a:rPr>
              <a:t>• ✅ Map library evaluated with benchmark data — MapLibre GL selected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Box 6"/>
          <p:cNvSpPr/>
          <p:nvPr/>
        </p:nvSpPr>
        <p:spPr>
          <a:xfrm>
            <a:off x="502920" y="1983240"/>
            <a:ext cx="11184840" cy="62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22C55E"/>
                </a:solidFill>
                <a:effectLst/>
                <a:uFillTx/>
                <a:latin typeface="Calibri"/>
              </a:rPr>
              <a:t>• ✅ System architecture designed  (state machine, player hierarchy, WebSocket)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Box 7"/>
          <p:cNvSpPr/>
          <p:nvPr/>
        </p:nvSpPr>
        <p:spPr>
          <a:xfrm>
            <a:off x="502920" y="2298240"/>
            <a:ext cx="11184840" cy="62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22C55E"/>
                </a:solidFill>
                <a:effectLst/>
                <a:uFillTx/>
                <a:latin typeface="Calibri"/>
              </a:rPr>
              <a:t>• ✅ Working backend:  6 endpoints, WebSocket, role assignment, 104 tests passing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Box 8"/>
          <p:cNvSpPr/>
          <p:nvPr/>
        </p:nvSpPr>
        <p:spPr>
          <a:xfrm>
            <a:off x="502920" y="2613240"/>
            <a:ext cx="11184840" cy="62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22C55E"/>
                </a:solidFill>
                <a:effectLst/>
                <a:uFillTx/>
                <a:latin typeface="Calibri"/>
              </a:rPr>
              <a:t>• ✅ Working frontend:  create / join / lobby with real-time updates + light/dark mode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Box 9"/>
          <p:cNvSpPr/>
          <p:nvPr/>
        </p:nvSpPr>
        <p:spPr>
          <a:xfrm>
            <a:off x="502920" y="2928240"/>
            <a:ext cx="11184840" cy="62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22C55E"/>
                </a:solidFill>
                <a:effectLst/>
                <a:uFillTx/>
                <a:latin typeface="Calibri"/>
              </a:rPr>
              <a:t>• ✅ OpenAPI spec in sync, enforced by pre-commit hook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Rectangle 10"/>
          <p:cNvSpPr/>
          <p:nvPr/>
        </p:nvSpPr>
        <p:spPr>
          <a:xfrm>
            <a:off x="502920" y="3426120"/>
            <a:ext cx="11184840" cy="460080"/>
          </a:xfrm>
          <a:prstGeom prst="rect">
            <a:avLst/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3" name="TextBox 11"/>
          <p:cNvSpPr/>
          <p:nvPr/>
        </p:nvSpPr>
        <p:spPr>
          <a:xfrm>
            <a:off x="731520" y="3517560"/>
            <a:ext cx="107276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Next:  Game engine  (move validation · catch detection · win conditions)  +  real Wellington map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Box 13"/>
          <p:cNvSpPr/>
          <p:nvPr/>
        </p:nvSpPr>
        <p:spPr>
          <a:xfrm>
            <a:off x="502920" y="6537960"/>
            <a:ext cx="111848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Slide 13 / 13  ·  ~15 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2385</TotalTime>
  <Application>LibreOffice/26.2.2.2$Linux_X86_64 LibreOffice_project/620$Build-2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2026-05-27T01:06:58Z</dcterms:modified>
  <cp:revision>19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