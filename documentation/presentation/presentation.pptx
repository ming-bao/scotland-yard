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5960" cy="585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480" cy="585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2D08BC9-2C84-4811-B6A3-1618119517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B872010-E382-4E68-AB2A-FCFCF8D579C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0960" cy="136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0960" cy="149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AFE5316-BAFF-434E-AAF1-4B8D7D134B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7DEB137-0A7E-48EF-A761-1B3D725447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884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884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28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28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19E4AB5-03F9-4371-A36A-4A087DB258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D47C8A6-24EA-4D33-A8C7-BEC8BD2BD3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F162748-16EA-4DB5-B953-7350AB9276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6720" cy="116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200" cy="585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6720" cy="468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38E84C1-5B61-4CA1-99B7-34F0142427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4960" cy="56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4960" cy="80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7546482-5187-4296-A3A3-3F4F1AAD9C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0A84340-2033-4271-B818-1903C28E33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60D3D67-CA01-4E85-AB79-7DB621AE13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"/>
          <p:cNvSpPr/>
          <p:nvPr/>
        </p:nvSpPr>
        <p:spPr>
          <a:xfrm>
            <a:off x="320040" y="1463040"/>
            <a:ext cx="115502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Scotland Yard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320040" y="2468880"/>
            <a:ext cx="115502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Wellington Edition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5"/>
          <p:cNvSpPr/>
          <p:nvPr/>
        </p:nvSpPr>
        <p:spPr>
          <a:xfrm>
            <a:off x="320040" y="5852160"/>
            <a:ext cx="115502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Ming Bao  ·  ENGR489  ·  Victoria University of Wellington  ·  June 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Oval 6"/>
          <p:cNvSpPr/>
          <p:nvPr/>
        </p:nvSpPr>
        <p:spPr>
          <a:xfrm>
            <a:off x="10314360" y="896040"/>
            <a:ext cx="401040" cy="401040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" name="Oval 7"/>
          <p:cNvSpPr/>
          <p:nvPr/>
        </p:nvSpPr>
        <p:spPr>
          <a:xfrm>
            <a:off x="10991160" y="1755720"/>
            <a:ext cx="327600" cy="327600"/>
          </a:xfrm>
          <a:prstGeom prst="ellipse">
            <a:avLst/>
          </a:prstGeom>
          <a:solidFill>
            <a:srgbClr val="1E293B"/>
          </a:solidFill>
          <a:ln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Oval 8"/>
          <p:cNvSpPr/>
          <p:nvPr/>
        </p:nvSpPr>
        <p:spPr>
          <a:xfrm>
            <a:off x="9921240" y="2148840"/>
            <a:ext cx="272880" cy="272880"/>
          </a:xfrm>
          <a:prstGeom prst="ellipse">
            <a:avLst/>
          </a:prstGeom>
          <a:solidFill>
            <a:srgbClr val="1E293B"/>
          </a:solidFill>
          <a:ln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Oval 9"/>
          <p:cNvSpPr/>
          <p:nvPr/>
        </p:nvSpPr>
        <p:spPr>
          <a:xfrm>
            <a:off x="11411640" y="804600"/>
            <a:ext cx="218160" cy="218160"/>
          </a:xfrm>
          <a:prstGeom prst="ellipse">
            <a:avLst/>
          </a:prstGeom>
          <a:solidFill>
            <a:srgbClr val="1E293B"/>
          </a:solidFill>
          <a:ln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1"/>
          <p:cNvSpPr/>
          <p:nvPr/>
        </p:nvSpPr>
        <p:spPr>
          <a:xfrm>
            <a:off x="502920" y="320040"/>
            <a:ext cx="62640" cy="3654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320" tIns="45000" rIns="31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2"/>
          <p:cNvSpPr/>
          <p:nvPr/>
        </p:nvSpPr>
        <p:spPr>
          <a:xfrm>
            <a:off x="667440" y="274320"/>
            <a:ext cx="11184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The Problem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502920" y="1353240"/>
            <a:ext cx="1118448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Scotland Yard (1983) is a classic hidden-movement deduction game — physical board only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502920" y="1668240"/>
            <a:ext cx="1118448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Existing digital versions (Board Game Arena, Steam) use fictional maps — no real geography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7"/>
          <p:cNvSpPr/>
          <p:nvPr/>
        </p:nvSpPr>
        <p:spPr>
          <a:xfrm>
            <a:off x="502920" y="2057400"/>
            <a:ext cx="1118448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SWEN capstone projects at VUW are rarely suitable for open days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8"/>
          <p:cNvSpPr/>
          <p:nvPr/>
        </p:nvSpPr>
        <p:spPr>
          <a:xfrm>
            <a:off x="502920" y="2435760"/>
            <a:ext cx="1118448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Gap:** No web-based platform for Scotland Yard on a real city map, in real time, in a browser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9"/>
          <p:cNvSpPr/>
          <p:nvPr/>
        </p:nvSpPr>
        <p:spPr>
          <a:xfrm>
            <a:off x="457200" y="3914640"/>
            <a:ext cx="11184480" cy="65700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640080" y="3960360"/>
            <a:ext cx="108187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Goal:  Build a multiplayer Scotland Yard game on Wellington's real transport network — playable in a browser, and visually striking enough to be a department showpiece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502920" y="320040"/>
            <a:ext cx="62640" cy="3654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320" tIns="45000" rIns="31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667440" y="274320"/>
            <a:ext cx="11184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Background Research: Related Work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457200" y="914400"/>
            <a:ext cx="11429640" cy="25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Existing website: https://ssy.pvx.sk/ 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	</a:t>
            </a: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- played through QR codes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Tabletop Simulator from steam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	</a:t>
            </a: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- requires TT sim: $29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	</a:t>
            </a: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- not automated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Scotland yard game on steam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	</a:t>
            </a: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- mostly negative reviews look at them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	</a:t>
            </a: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-$22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502920" y="320040"/>
            <a:ext cx="62640" cy="3650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320" tIns="45000" rIns="31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667440" y="274320"/>
            <a:ext cx="1118448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Tech Stack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4"/>
          <p:cNvSpPr/>
          <p:nvPr/>
        </p:nvSpPr>
        <p:spPr>
          <a:xfrm>
            <a:off x="502920" y="914400"/>
            <a:ext cx="11184480" cy="47412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5"/>
          <p:cNvSpPr/>
          <p:nvPr/>
        </p:nvSpPr>
        <p:spPr>
          <a:xfrm>
            <a:off x="685800" y="914400"/>
            <a:ext cx="108187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AI-assisted development:  Claude Code (Anthropic's CLI) — architecture decisions, code generation, test writing. All output is reviewed and owned. This is how modern engineers work.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3" name="Table 6"/>
          <p:cNvGraphicFramePr/>
          <p:nvPr/>
        </p:nvGraphicFramePr>
        <p:xfrm>
          <a:off x="502920" y="1518480"/>
          <a:ext cx="10652400" cy="204588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553212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Layer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Tool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Why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Backend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Java 21 + Spring Boot 4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Industry standard; WebSocket/STOMP built-in, familiarity 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Frontend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Vue 3 + TypeScript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  <a:ea typeface="Noto Sans CJK SC"/>
                        </a:rPr>
                        <a:t>Reactive, typed, composable, familiarity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Map API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MapLibre GL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Prev Slide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Communication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Websocket STOMP over SockJS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Spring's native WebSocket protocol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Deployment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Docker, home server, cloudflare  (planned T2)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Reproducible deploys, free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Testing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JUnit 5 + Mockito + AssertJ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Standard Java test stack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tangle 1"/>
          <p:cNvSpPr/>
          <p:nvPr/>
        </p:nvSpPr>
        <p:spPr>
          <a:xfrm>
            <a:off x="502920" y="320040"/>
            <a:ext cx="62640" cy="3650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320" tIns="45000" rIns="31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2"/>
          <p:cNvSpPr/>
          <p:nvPr/>
        </p:nvSpPr>
        <p:spPr>
          <a:xfrm>
            <a:off x="667440" y="274320"/>
            <a:ext cx="11184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Map Library Evaluation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" name=""/>
          <p:cNvPicPr/>
          <p:nvPr/>
        </p:nvPicPr>
        <p:blipFill>
          <a:blip r:embed="rId1"/>
          <a:stretch/>
        </p:blipFill>
        <p:spPr>
          <a:xfrm>
            <a:off x="2847960" y="914400"/>
            <a:ext cx="6523920" cy="548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1"/>
          <p:cNvSpPr/>
          <p:nvPr/>
        </p:nvSpPr>
        <p:spPr>
          <a:xfrm>
            <a:off x="502920" y="320040"/>
            <a:ext cx="62640" cy="3654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320" tIns="45000" rIns="31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2"/>
          <p:cNvSpPr/>
          <p:nvPr/>
        </p:nvSpPr>
        <p:spPr>
          <a:xfrm>
            <a:off x="667440" y="274320"/>
            <a:ext cx="11184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System Architecture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" name=""/>
          <p:cNvPicPr/>
          <p:nvPr/>
        </p:nvPicPr>
        <p:blipFill>
          <a:blip r:embed="rId1"/>
          <a:stretch/>
        </p:blipFill>
        <p:spPr>
          <a:xfrm>
            <a:off x="2505600" y="1219680"/>
            <a:ext cx="6866640" cy="5180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1"/>
          <p:cNvSpPr/>
          <p:nvPr/>
        </p:nvSpPr>
        <p:spPr>
          <a:xfrm>
            <a:off x="502920" y="320040"/>
            <a:ext cx="62640" cy="8215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320" tIns="45000" rIns="31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667440" y="274320"/>
            <a:ext cx="11184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What's Been Built: Backend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667440" y="841320"/>
            <a:ext cx="1118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Sprint 1–2 complete — Lobby + Role Assignment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3" name="Table 4"/>
          <p:cNvGraphicFramePr/>
          <p:nvPr/>
        </p:nvGraphicFramePr>
        <p:xfrm>
          <a:off x="502920" y="1307520"/>
          <a:ext cx="10652400" cy="2046240"/>
        </p:xfrm>
        <a:graphic>
          <a:graphicData uri="http://schemas.openxmlformats.org/drawingml/2006/table">
            <a:tbl>
              <a:tblPr/>
              <a:tblGrid>
                <a:gridCol w="1097280"/>
                <a:gridCol w="4846320"/>
                <a:gridCol w="470916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Method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Path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Purpose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create game, return join code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/api/games/join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join by code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GET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/api/games/{id}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get current state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/api/games/{id}/start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host starts, assigns roles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/api/games/{id}/players/{pid}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leave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/api/games/{id}/players/{pid}/kick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host kicks player from lobby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94" name="TextBox 5"/>
          <p:cNvSpPr/>
          <p:nvPr/>
        </p:nvSpPr>
        <p:spPr>
          <a:xfrm>
            <a:off x="502920" y="3520440"/>
            <a:ext cx="11184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WebSocket: server broadcasts to /topic/games/{id} after every state change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502920" y="3776400"/>
            <a:ext cx="1118448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OpenAPI 3.1 spec kept in sync via a pre-commit git hook — build fails if API surface changes without updating the spec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1"/>
          <p:cNvSpPr/>
          <p:nvPr/>
        </p:nvSpPr>
        <p:spPr>
          <a:xfrm>
            <a:off x="502920" y="320040"/>
            <a:ext cx="62640" cy="8215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320" tIns="45000" rIns="31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TextBox 2"/>
          <p:cNvSpPr/>
          <p:nvPr/>
        </p:nvSpPr>
        <p:spPr>
          <a:xfrm>
            <a:off x="667440" y="274320"/>
            <a:ext cx="11184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What's Been Built: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Frontend + Demo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667440" y="841320"/>
            <a:ext cx="1118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Working lobby flow  (live demo or video)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Rectangle 4"/>
          <p:cNvSpPr/>
          <p:nvPr/>
        </p:nvSpPr>
        <p:spPr>
          <a:xfrm>
            <a:off x="502920" y="1353240"/>
            <a:ext cx="364320" cy="3459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5"/>
          <p:cNvSpPr/>
          <p:nvPr/>
        </p:nvSpPr>
        <p:spPr>
          <a:xfrm>
            <a:off x="502920" y="1353240"/>
            <a:ext cx="364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6"/>
          <p:cNvSpPr/>
          <p:nvPr/>
        </p:nvSpPr>
        <p:spPr>
          <a:xfrm>
            <a:off x="960120" y="1389960"/>
            <a:ext cx="107272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Player creates game → lands on lobby with 6-char join code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Rectangle 7"/>
          <p:cNvSpPr/>
          <p:nvPr/>
        </p:nvSpPr>
        <p:spPr>
          <a:xfrm>
            <a:off x="502920" y="1810440"/>
            <a:ext cx="364320" cy="3459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Box 8"/>
          <p:cNvSpPr/>
          <p:nvPr/>
        </p:nvSpPr>
        <p:spPr>
          <a:xfrm>
            <a:off x="502920" y="1810440"/>
            <a:ext cx="364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9"/>
          <p:cNvSpPr/>
          <p:nvPr/>
        </p:nvSpPr>
        <p:spPr>
          <a:xfrm>
            <a:off x="960120" y="1847160"/>
            <a:ext cx="107272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Second player joins by code → both lobbies update instantly via WebSocket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Rectangle 10"/>
          <p:cNvSpPr/>
          <p:nvPr/>
        </p:nvSpPr>
        <p:spPr>
          <a:xfrm>
            <a:off x="502920" y="2267640"/>
            <a:ext cx="364320" cy="3459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11"/>
          <p:cNvSpPr/>
          <p:nvPr/>
        </p:nvSpPr>
        <p:spPr>
          <a:xfrm>
            <a:off x="502920" y="2267640"/>
            <a:ext cx="364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2"/>
          <p:cNvSpPr/>
          <p:nvPr/>
        </p:nvSpPr>
        <p:spPr>
          <a:xfrm>
            <a:off x="960120" y="2304360"/>
            <a:ext cx="107272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Host can kick players → kicked player sees notification and is redirected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 13"/>
          <p:cNvSpPr/>
          <p:nvPr/>
        </p:nvSpPr>
        <p:spPr>
          <a:xfrm>
            <a:off x="502920" y="2724840"/>
            <a:ext cx="364320" cy="3459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14"/>
          <p:cNvSpPr/>
          <p:nvPr/>
        </p:nvSpPr>
        <p:spPr>
          <a:xfrm>
            <a:off x="502920" y="2724840"/>
            <a:ext cx="364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15"/>
          <p:cNvSpPr/>
          <p:nvPr/>
        </p:nvSpPr>
        <p:spPr>
          <a:xfrm>
            <a:off x="960120" y="2761560"/>
            <a:ext cx="107272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Host starts game → all players transition together to the game board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Rectangle 1"/>
          <p:cNvSpPr/>
          <p:nvPr/>
        </p:nvSpPr>
        <p:spPr>
          <a:xfrm>
            <a:off x="502920" y="320040"/>
            <a:ext cx="62640" cy="8215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320" tIns="45000" rIns="31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2"/>
          <p:cNvSpPr/>
          <p:nvPr/>
        </p:nvSpPr>
        <p:spPr>
          <a:xfrm>
            <a:off x="667440" y="274320"/>
            <a:ext cx="11184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Testing Strategy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3"/>
          <p:cNvSpPr/>
          <p:nvPr/>
        </p:nvSpPr>
        <p:spPr>
          <a:xfrm>
            <a:off x="667440" y="841320"/>
            <a:ext cx="1118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104 tests, all passing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4" name="Table 4"/>
          <p:cNvGraphicFramePr/>
          <p:nvPr/>
        </p:nvGraphicFramePr>
        <p:xfrm>
          <a:off x="502920" y="1307520"/>
          <a:ext cx="10652400" cy="175392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699516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Layer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Count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What they catch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Model unit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27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Ticket invariants — MrX transport stays at -1 after use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Service unit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46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State transitions, validation, broadcast call verification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Lifecycle integration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17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Full create → join → start → leave flows, real repository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Controller (HTTP)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13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Request routing, error response shape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App context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Spring context loads without errors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</a:tbl>
          </a:graphicData>
        </a:graphic>
      </p:graphicFrame>
      <p:sp>
        <p:nvSpPr>
          <p:cNvPr id="115" name="TextBox 5"/>
          <p:cNvSpPr/>
          <p:nvPr/>
        </p:nvSpPr>
        <p:spPr>
          <a:xfrm>
            <a:off x="502920" y="3246120"/>
            <a:ext cx="11184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Philosophy:  Tests target specific invariants, not just happy paths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6"/>
          <p:cNvSpPr/>
          <p:nvPr/>
        </p:nvSpPr>
        <p:spPr>
          <a:xfrm>
            <a:off x="502920" y="3566160"/>
            <a:ext cx="1118448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eg. startGame_setsCurrentPlayerIdToMrX  —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fails if line 121 of GameService is deleted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7"/>
          <p:cNvSpPr/>
          <p:nvPr/>
        </p:nvSpPr>
        <p:spPr>
          <a:xfrm>
            <a:off x="502920" y="3822120"/>
            <a:ext cx="1118448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eg. leaveGame_mrXLeaves_mrXRemovedFromPlayerList  — previous tests only checked phase, not player list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8"/>
          <p:cNvSpPr/>
          <p:nvPr/>
        </p:nvSpPr>
        <p:spPr>
          <a:xfrm>
            <a:off x="502920" y="4078080"/>
            <a:ext cx="1118448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eg. joinGame_lowercaseCodeIsNormalized  — catches missing toUpperCase() in joinGame()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9"/>
          <p:cNvSpPr/>
          <p:nvPr/>
        </p:nvSpPr>
        <p:spPr>
          <a:xfrm>
            <a:off x="502920" y="6537960"/>
            <a:ext cx="11184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10 / 13  ·  ~30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2"/>
          <p:cNvSpPr/>
          <p:nvPr/>
        </p:nvSpPr>
        <p:spPr>
          <a:xfrm>
            <a:off x="502920" y="320040"/>
            <a:ext cx="62640" cy="3654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320" tIns="45000" rIns="31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17"/>
          <p:cNvSpPr/>
          <p:nvPr/>
        </p:nvSpPr>
        <p:spPr>
          <a:xfrm>
            <a:off x="667440" y="274320"/>
            <a:ext cx="111844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Trade-offs &amp; Limitations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2" name="Table 2"/>
          <p:cNvGraphicFramePr/>
          <p:nvPr/>
        </p:nvGraphicFramePr>
        <p:xfrm>
          <a:off x="441000" y="930240"/>
          <a:ext cx="10652400" cy="1609200"/>
        </p:xfrm>
        <a:graphic>
          <a:graphicData uri="http://schemas.openxmlformats.org/drawingml/2006/table">
            <a:tbl>
              <a:tblPr/>
              <a:tblGrid>
                <a:gridCol w="2286000"/>
                <a:gridCol w="3931920"/>
                <a:gridCol w="443484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Decision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Trade-off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Mitigation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No Persistency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Players and games are temporary but security can be ignored to an extent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Good enough for what the game is designed for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No authentication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Anyone with a join code can join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By design — for open days and play with friends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WebSocket (STOMP)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More complex than REST polling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Standard Spring support; already working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Pre-computed GeoJSON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Must build Wellington graph manually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One-time effort; no per-request API cost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23" name="TextBox 25"/>
          <p:cNvSpPr/>
          <p:nvPr/>
        </p:nvSpPr>
        <p:spPr>
          <a:xfrm>
            <a:off x="457200" y="2852280"/>
            <a:ext cx="31989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Current limitations: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6"/>
          <p:cNvSpPr/>
          <p:nvPr/>
        </p:nvSpPr>
        <p:spPr>
          <a:xfrm>
            <a:off x="473760" y="3140280"/>
            <a:ext cx="11184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Game engine (move validation, catch detection, win conditions) not yet implemented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27"/>
          <p:cNvSpPr/>
          <p:nvPr/>
        </p:nvSpPr>
        <p:spPr>
          <a:xfrm>
            <a:off x="473760" y="3368880"/>
            <a:ext cx="11184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Wellington graph data not yet populated 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28"/>
          <p:cNvSpPr/>
          <p:nvPr/>
        </p:nvSpPr>
        <p:spPr>
          <a:xfrm>
            <a:off x="473760" y="3597480"/>
            <a:ext cx="11184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Deployment planned for T2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502920" y="320040"/>
            <a:ext cx="62640" cy="3654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320" tIns="45000" rIns="31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Box 2"/>
          <p:cNvSpPr/>
          <p:nvPr/>
        </p:nvSpPr>
        <p:spPr>
          <a:xfrm>
            <a:off x="667440" y="274320"/>
            <a:ext cx="111844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Progress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502920" y="6537960"/>
            <a:ext cx="11184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11 / 13  ·  ~45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0" name=""/>
          <p:cNvPicPr/>
          <p:nvPr/>
        </p:nvPicPr>
        <p:blipFill>
          <a:blip r:embed="rId1"/>
          <a:stretch/>
        </p:blipFill>
        <p:spPr>
          <a:xfrm>
            <a:off x="2286000" y="1371600"/>
            <a:ext cx="7314840" cy="480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"/>
          <p:cNvSpPr/>
          <p:nvPr/>
        </p:nvSpPr>
        <p:spPr>
          <a:xfrm>
            <a:off x="7086600" y="1828800"/>
            <a:ext cx="73080" cy="4343400"/>
          </a:xfrm>
          <a:prstGeom prst="line">
            <a:avLst/>
          </a:prstGeom>
          <a:ln w="54720">
            <a:solidFill>
              <a:srgbClr val="C500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360" tIns="72360" rIns="36360" bIns="7236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1"/>
          <p:cNvSpPr/>
          <p:nvPr/>
        </p:nvSpPr>
        <p:spPr>
          <a:xfrm>
            <a:off x="502920" y="320040"/>
            <a:ext cx="62640" cy="3654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320" tIns="45000" rIns="31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2"/>
          <p:cNvSpPr/>
          <p:nvPr/>
        </p:nvSpPr>
        <p:spPr>
          <a:xfrm>
            <a:off x="667440" y="274320"/>
            <a:ext cx="111844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Future Plan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Rectangle 3"/>
          <p:cNvSpPr/>
          <p:nvPr/>
        </p:nvSpPr>
        <p:spPr>
          <a:xfrm>
            <a:off x="4261320" y="1594080"/>
            <a:ext cx="3635640" cy="34596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4"/>
          <p:cNvSpPr/>
          <p:nvPr/>
        </p:nvSpPr>
        <p:spPr>
          <a:xfrm>
            <a:off x="4328640" y="1642680"/>
            <a:ext cx="35442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Sprint 4 — Game Engine 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5"/>
          <p:cNvSpPr/>
          <p:nvPr/>
        </p:nvSpPr>
        <p:spPr>
          <a:xfrm>
            <a:off x="4255560" y="1999440"/>
            <a:ext cx="363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Move validation against graph edges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6"/>
          <p:cNvSpPr/>
          <p:nvPr/>
        </p:nvSpPr>
        <p:spPr>
          <a:xfrm>
            <a:off x="4255560" y="2215800"/>
            <a:ext cx="363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Ticket decrement on move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7"/>
          <p:cNvSpPr/>
          <p:nvPr/>
        </p:nvSpPr>
        <p:spPr>
          <a:xfrm>
            <a:off x="4255560" y="2432520"/>
            <a:ext cx="363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Turn rotation  (MrX → each detective → repeat)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8"/>
          <p:cNvSpPr/>
          <p:nvPr/>
        </p:nvSpPr>
        <p:spPr>
          <a:xfrm>
            <a:off x="4255560" y="2648880"/>
            <a:ext cx="363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Catch detection and win conditions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9"/>
          <p:cNvSpPr/>
          <p:nvPr/>
        </p:nvSpPr>
        <p:spPr>
          <a:xfrm>
            <a:off x="4255560" y="2865600"/>
            <a:ext cx="363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Reveal rounds  (3, 8, 13, 18, 24)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0"/>
          <p:cNvSpPr/>
          <p:nvPr/>
        </p:nvSpPr>
        <p:spPr>
          <a:xfrm>
            <a:off x="4255560" y="3081960"/>
            <a:ext cx="363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Milestone:  two players complete a full round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Rectangle 11"/>
          <p:cNvSpPr/>
          <p:nvPr/>
        </p:nvSpPr>
        <p:spPr>
          <a:xfrm>
            <a:off x="457200" y="1596960"/>
            <a:ext cx="3635640" cy="3459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" name="TextBox 12"/>
          <p:cNvSpPr/>
          <p:nvPr/>
        </p:nvSpPr>
        <p:spPr>
          <a:xfrm>
            <a:off x="530280" y="1651680"/>
            <a:ext cx="35442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Sprint 3 — Map + Wellington Graph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13"/>
          <p:cNvSpPr/>
          <p:nvPr/>
        </p:nvSpPr>
        <p:spPr>
          <a:xfrm>
            <a:off x="457200" y="2008440"/>
            <a:ext cx="363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Build Wellington node/edge graph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14"/>
          <p:cNvSpPr/>
          <p:nvPr/>
        </p:nvSpPr>
        <p:spPr>
          <a:xfrm>
            <a:off x="457200" y="2224800"/>
            <a:ext cx="363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MapLibre GL rendering of nodes and edges on real map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5"/>
          <p:cNvSpPr/>
          <p:nvPr/>
        </p:nvSpPr>
        <p:spPr>
          <a:xfrm>
            <a:off x="457200" y="2441520"/>
            <a:ext cx="363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Node selection and ticket picker UI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16"/>
          <p:cNvSpPr/>
          <p:nvPr/>
        </p:nvSpPr>
        <p:spPr>
          <a:xfrm>
            <a:off x="457200" y="2657880"/>
            <a:ext cx="363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Milestone:  player selects and submits a move on the real map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Rectangle 17"/>
          <p:cNvSpPr/>
          <p:nvPr/>
        </p:nvSpPr>
        <p:spPr>
          <a:xfrm>
            <a:off x="8051760" y="1587960"/>
            <a:ext cx="3635640" cy="34596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TextBox 18"/>
          <p:cNvSpPr/>
          <p:nvPr/>
        </p:nvSpPr>
        <p:spPr>
          <a:xfrm>
            <a:off x="8124840" y="1642680"/>
            <a:ext cx="35442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Sprint 5 — Deploy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19"/>
          <p:cNvSpPr/>
          <p:nvPr/>
        </p:nvSpPr>
        <p:spPr>
          <a:xfrm>
            <a:off x="8051760" y="1999440"/>
            <a:ext cx="363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Docker containerisation  (backend + frontend)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20"/>
          <p:cNvSpPr/>
          <p:nvPr/>
        </p:nvSpPr>
        <p:spPr>
          <a:xfrm>
            <a:off x="8051760" y="2215800"/>
            <a:ext cx="363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Host on home server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23"/>
          <p:cNvSpPr/>
          <p:nvPr/>
        </p:nvSpPr>
        <p:spPr>
          <a:xfrm>
            <a:off x="8051760" y="2481840"/>
            <a:ext cx="363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Milestone:  full game playable end-to-end by external users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1"/>
          <p:cNvSpPr/>
          <p:nvPr/>
        </p:nvSpPr>
        <p:spPr>
          <a:xfrm>
            <a:off x="502920" y="320040"/>
            <a:ext cx="62640" cy="8215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320" tIns="45000" rIns="31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2"/>
          <p:cNvSpPr/>
          <p:nvPr/>
        </p:nvSpPr>
        <p:spPr>
          <a:xfrm>
            <a:off x="667440" y="274320"/>
            <a:ext cx="11184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Summary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3"/>
          <p:cNvSpPr/>
          <p:nvPr/>
        </p:nvSpPr>
        <p:spPr>
          <a:xfrm>
            <a:off x="667440" y="841320"/>
            <a:ext cx="1118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Where we are at end of Trimester 1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4"/>
          <p:cNvSpPr/>
          <p:nvPr/>
        </p:nvSpPr>
        <p:spPr>
          <a:xfrm>
            <a:off x="502920" y="1353240"/>
            <a:ext cx="1118448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Full specification written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5"/>
          <p:cNvSpPr/>
          <p:nvPr/>
        </p:nvSpPr>
        <p:spPr>
          <a:xfrm>
            <a:off x="502920" y="1668240"/>
            <a:ext cx="1118448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Map library evaluated with benchmark data — MapLibre GL selected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6"/>
          <p:cNvSpPr/>
          <p:nvPr/>
        </p:nvSpPr>
        <p:spPr>
          <a:xfrm>
            <a:off x="502920" y="1983240"/>
            <a:ext cx="1118448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System architecture designed  (state machine, player hierarchy, WebSocket)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7"/>
          <p:cNvSpPr/>
          <p:nvPr/>
        </p:nvSpPr>
        <p:spPr>
          <a:xfrm>
            <a:off x="502920" y="2298240"/>
            <a:ext cx="1118448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Working backend:  6 endpoints, WebSocket, role assignment, 104 tests passing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8"/>
          <p:cNvSpPr/>
          <p:nvPr/>
        </p:nvSpPr>
        <p:spPr>
          <a:xfrm>
            <a:off x="502920" y="2613240"/>
            <a:ext cx="1118448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Working frontend:  create / join / lobby with real-time updates + light/dark mode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9"/>
          <p:cNvSpPr/>
          <p:nvPr/>
        </p:nvSpPr>
        <p:spPr>
          <a:xfrm>
            <a:off x="502920" y="2928240"/>
            <a:ext cx="1118448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OpenAPI spec in sync, enforced by pre-commit hook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Rectangle 10"/>
          <p:cNvSpPr/>
          <p:nvPr/>
        </p:nvSpPr>
        <p:spPr>
          <a:xfrm>
            <a:off x="502920" y="3426120"/>
            <a:ext cx="11184480" cy="45972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Box 11"/>
          <p:cNvSpPr/>
          <p:nvPr/>
        </p:nvSpPr>
        <p:spPr>
          <a:xfrm>
            <a:off x="731520" y="3517560"/>
            <a:ext cx="10727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Next:  Game engine  (move validation · catch detection · win conditions)  +  real Wellington map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13"/>
          <p:cNvSpPr/>
          <p:nvPr/>
        </p:nvSpPr>
        <p:spPr>
          <a:xfrm>
            <a:off x="502920" y="6537960"/>
            <a:ext cx="11184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13 / 13  ·  ~15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6463</TotalTime>
  <Application>LibreOffice/26.2.3.2$Linux_X86_64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2026-05-30T10:19:25Z</dcterms:modified>
  <cp:revision>21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