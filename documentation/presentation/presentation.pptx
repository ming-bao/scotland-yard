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B3A222-ADE2-48AE-B9EE-F0F9099E6E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FC0F4CB-0F62-4ED1-A57B-A759739722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6BA0057-16F9-4104-BD15-835A3A110D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1B4053-04AE-4FF6-9AB2-98A2D627A8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7DC0942-54CD-44BB-AA98-B7AEBCCAC9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9AB567-F164-4293-A42C-13CB5FC5DB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4567F8C-D391-43B0-91C1-3E34D2AA82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3351669-C024-459A-856C-B07F6EE318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77F3C79-41B8-4F7A-AAC5-AEEDD3CB77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EB2C871-12E1-4754-9F9F-6870CFE2F9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2F7A8A6-2DE2-4230-B3FF-767DD63584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2560320"/>
            <a:ext cx="109080" cy="18280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320040" y="1463040"/>
            <a:ext cx="115509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Scotland Yard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320040" y="2468880"/>
            <a:ext cx="115509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Wellington Edition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5"/>
          <p:cNvSpPr/>
          <p:nvPr/>
        </p:nvSpPr>
        <p:spPr>
          <a:xfrm>
            <a:off x="320040" y="5852160"/>
            <a:ext cx="115509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Ming Bao  ·  ENGR489  ·  Victoria University of Wellington  ·  June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Oval 6"/>
          <p:cNvSpPr/>
          <p:nvPr/>
        </p:nvSpPr>
        <p:spPr>
          <a:xfrm>
            <a:off x="10314360" y="896040"/>
            <a:ext cx="401760" cy="40176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Oval 7"/>
          <p:cNvSpPr/>
          <p:nvPr/>
        </p:nvSpPr>
        <p:spPr>
          <a:xfrm>
            <a:off x="10991160" y="1755720"/>
            <a:ext cx="328320" cy="32832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Oval 8"/>
          <p:cNvSpPr/>
          <p:nvPr/>
        </p:nvSpPr>
        <p:spPr>
          <a:xfrm>
            <a:off x="9921240" y="2148840"/>
            <a:ext cx="273600" cy="27360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Oval 9"/>
          <p:cNvSpPr/>
          <p:nvPr/>
        </p:nvSpPr>
        <p:spPr>
          <a:xfrm>
            <a:off x="11411640" y="804600"/>
            <a:ext cx="218880" cy="21888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The Problem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Board games don't scale to the real world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502920" y="1353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(1983) is a classic hidden-movement deduction game — physical board only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502920" y="1668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digital versions (Board Game Arena, Steam) use fictional maps — no real geography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"/>
          <p:cNvSpPr/>
          <p:nvPr/>
        </p:nvSpPr>
        <p:spPr>
          <a:xfrm>
            <a:off x="502920" y="2057400"/>
            <a:ext cx="111852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SWEN capstone projects at VUW are rarely suitable for open days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502920" y="243576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Gap:** No web-based platform for Scotland Yard on a real city map, in real time, in a browser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9"/>
          <p:cNvSpPr/>
          <p:nvPr/>
        </p:nvSpPr>
        <p:spPr>
          <a:xfrm>
            <a:off x="502920" y="3065400"/>
            <a:ext cx="11185200" cy="6577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685800" y="3111120"/>
            <a:ext cx="10819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Goal:  Build a multiplayer </a:t>
            </a: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Scotland Yard game on </a:t>
            </a: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Wellington's real transport </a:t>
            </a: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network — playable in a </a:t>
            </a: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browser, and visually striking </a:t>
            </a: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enough to be a department </a:t>
            </a: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showpiece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Background Research: Related Work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What exists and what's missing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Table 4"/>
          <p:cNvGraphicFramePr/>
          <p:nvPr/>
        </p:nvGraphicFramePr>
        <p:xfrm>
          <a:off x="502920" y="1353240"/>
          <a:ext cx="10606680" cy="14616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920240"/>
                <a:gridCol w="2103120"/>
                <a:gridCol w="21945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System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Real map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Browser-based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Strategic depth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Multiplayer sync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Board Game Arena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✗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High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Pokémon GO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✗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Low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Limited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Google Maps games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Partial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Low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✗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60A5FA"/>
                          </a:solidFill>
                          <a:effectLst/>
                          <a:uFillTx/>
                          <a:latin typeface="Calibri"/>
                        </a:rPr>
                        <a:t>This project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60A5FA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60A5FA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60A5FA"/>
                          </a:solidFill>
                          <a:effectLst/>
                          <a:uFillTx/>
                          <a:latin typeface="Calibri"/>
                        </a:rPr>
                        <a:t>High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60A5FA"/>
                          </a:solidFill>
                          <a:effectLst/>
                          <a:uFillTx/>
                          <a:latin typeface="Calibri"/>
                        </a:rPr>
                        <a:t>✓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82" name="Rectangle 5"/>
          <p:cNvSpPr/>
          <p:nvPr/>
        </p:nvSpPr>
        <p:spPr>
          <a:xfrm>
            <a:off x="502920" y="2907720"/>
            <a:ext cx="11185200" cy="59364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685800" y="2980800"/>
            <a:ext cx="1081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Key insight:  Real-world routing APIs cost $5–10 / 1,000 requests and add ~300 ms latency. Pre-computed GeoJSON paths served statically are the only viable architecture at this scale.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3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502920" y="320040"/>
            <a:ext cx="6336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Map Library Evaluation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2847960" y="914400"/>
            <a:ext cx="6524640" cy="5486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502920" y="320040"/>
            <a:ext cx="6336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667440" y="274320"/>
            <a:ext cx="1118520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Techstack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4"/>
          <p:cNvSpPr/>
          <p:nvPr/>
        </p:nvSpPr>
        <p:spPr>
          <a:xfrm>
            <a:off x="502920" y="914400"/>
            <a:ext cx="11185200" cy="47484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685800" y="914400"/>
            <a:ext cx="108194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AI-assisted development:  Claude Code (Anthropic's CLI) — architecture decisions, code generation, test writing. All output is reviewed and owned. This is how modern engineers work.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" name="Table 6"/>
          <p:cNvGraphicFramePr/>
          <p:nvPr/>
        </p:nvGraphicFramePr>
        <p:xfrm>
          <a:off x="502920" y="1518480"/>
          <a:ext cx="10652400" cy="204624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553212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Tool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Backend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Java 21 + Spring Boot 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Industry standard; WebSocket/STOMP built-in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Frontend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Vue 3 + TypeScript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Reactive, typed, composable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MapLibre GL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WebGL, open-source (benchmark above)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Real-time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STOMP over SockJS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Spring's native WebSocket protocol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Containerise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Docker  (planned T2)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Reproducible deploys, industry norm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JUnit 5 + Mockito + AssertJ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Java test stack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3" name="TextBox 8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5 / 13  ·  ~60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Architecture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3"/>
          <p:cNvSpPr/>
          <p:nvPr/>
        </p:nvSpPr>
        <p:spPr>
          <a:xfrm>
            <a:off x="502920" y="960120"/>
            <a:ext cx="5942880" cy="50742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685800" y="1097280"/>
            <a:ext cx="55771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Browser  (Vue 3 +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MapLibre GL)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│  REST (HTTP/JSON) 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— lobby setup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│  WebSocket (STOMP)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— real-time events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▼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Spring Boot 4 Backend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├── GameController   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(6 REST endpoints)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├── WebSocketConfig  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(STOMP broker)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├── GameService      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(all game logic)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├── GameRepository   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(ConcurrentHashMap)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└── Player hierarchy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Player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(interface)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├── LobbyPlayer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(pre-role)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├── MrXPlayer   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(unlimited +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BLACK/DOUBLE)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└──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DetectivePlayer  (finite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tickets)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Static:  graph.json · </a:t>
            </a:r>
            <a:r>
              <a:rPr lang="en-US" sz="115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roads.geojson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5"/>
          <p:cNvSpPr/>
          <p:nvPr/>
        </p:nvSpPr>
        <p:spPr>
          <a:xfrm>
            <a:off x="6629400" y="960120"/>
            <a:ext cx="5287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Design decisions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6"/>
          <p:cNvSpPr/>
          <p:nvPr/>
        </p:nvSpPr>
        <p:spPr>
          <a:xfrm>
            <a:off x="6629400" y="1325880"/>
            <a:ext cx="528732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→ Interface not class →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roles are a runtime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assignment after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startGame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7"/>
          <p:cNvSpPr/>
          <p:nvPr/>
        </p:nvSpPr>
        <p:spPr>
          <a:xfrm>
            <a:off x="6629400" y="1581840"/>
            <a:ext cx="528732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→ In-memory store → no DB complexity for v1; swap behind GameRepository later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8"/>
          <p:cNvSpPr/>
          <p:nvPr/>
        </p:nvSpPr>
        <p:spPr>
          <a:xfrm>
            <a:off x="6629400" y="1837800"/>
            <a:ext cx="528732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→ WebSocket push → clients never poll; server is authoritative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9"/>
          <p:cNvSpPr/>
          <p:nvPr/>
        </p:nvSpPr>
        <p:spPr>
          <a:xfrm>
            <a:off x="6629400" y="2093760"/>
            <a:ext cx="528732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→ LobbyPlayer has no role/tickets; MrXPlayer / DetectivePlayer carry typed inventories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6629400" y="2349360"/>
            <a:ext cx="528732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→ Pre-commit hook enforces OpenAPI spec stays in sync with every controller change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1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6 / 13  ·  ~60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Game State Machine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502920" y="960120"/>
            <a:ext cx="11185200" cy="319968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4"/>
          <p:cNvSpPr/>
          <p:nvPr/>
        </p:nvSpPr>
        <p:spPr>
          <a:xfrm>
            <a:off x="777240" y="1143000"/>
            <a:ext cx="10636560" cy="29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Idle  →  Lobby  →  InProgress  →  { DetectivesWin | MrXWins | GameAborted 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                ↕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             Paused  (disconnection grace period)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InProgress sub-phases: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MrXTurn → DetectiveTurn → RoundEnd → MrXTurn   (× 24 rounds)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MrXTurn:  reveal check (rounds 3,8,13,18,24) → fetch valid moves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    → select node + ticket → optional DOUBLE second move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    → server validates → broadcast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DetTurn:  fetch valid moves → select → submit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ourier New"/>
              </a:rPr>
              <a:t>            → server catch-check → advance or increment round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502920" y="429768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Implemented this sprint: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502920" y="457200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Idle → Lobby → InProgress transitions · abort on MrX disconnect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6446520" y="42976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Next sprint: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8"/>
          <p:cNvSpPr/>
          <p:nvPr/>
        </p:nvSpPr>
        <p:spPr>
          <a:xfrm>
            <a:off x="6446520" y="457200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Turn rotation · move validation · catch detection · reveal rounds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9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7 / 13  ·  ~30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Backend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Sprint 1–2 complete — Lobby + Role Assignment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4"/>
          <p:cNvGraphicFramePr/>
          <p:nvPr/>
        </p:nvGraphicFramePr>
        <p:xfrm>
          <a:off x="502920" y="1307520"/>
          <a:ext cx="10652400" cy="2046240"/>
        </p:xfrm>
        <a:graphic>
          <a:graphicData uri="http://schemas.openxmlformats.org/drawingml/2006/table">
            <a:tbl>
              <a:tblPr/>
              <a:tblGrid>
                <a:gridCol w="1097280"/>
                <a:gridCol w="4846320"/>
                <a:gridCol w="4709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Path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Purpose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create game, return join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join by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 current state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/api/games/{id}/start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starts, assigns roles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leave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/api/games/{id}/players/{pid}/kick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kicks player from lobby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8" name="TextBox 5"/>
          <p:cNvSpPr/>
          <p:nvPr/>
        </p:nvSpPr>
        <p:spPr>
          <a:xfrm>
            <a:off x="502920" y="352044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WebSocket: server broadcasts to /topic/games/{id} after every state change — no polling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6"/>
          <p:cNvSpPr/>
          <p:nvPr/>
        </p:nvSpPr>
        <p:spPr>
          <a:xfrm>
            <a:off x="502920" y="377640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OpenAPI 3.1 spec kept in sync via a pre-commit git hook — build fails if API surface changes without updating the spec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502920" y="403236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Player interface hierarchy: LobbyPlayer (no tickets) → MrXPlayer / DetectivePlayer on startGame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8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Frontend + Demo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Working lobby flow  (live demo or video)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4"/>
          <p:cNvSpPr/>
          <p:nvPr/>
        </p:nvSpPr>
        <p:spPr>
          <a:xfrm>
            <a:off x="502920" y="1353240"/>
            <a:ext cx="365040" cy="3466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502920" y="1353240"/>
            <a:ext cx="365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960120" y="1389960"/>
            <a:ext cx="10728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Player creates game → lands on lobby with 6-char join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7"/>
          <p:cNvSpPr/>
          <p:nvPr/>
        </p:nvSpPr>
        <p:spPr>
          <a:xfrm>
            <a:off x="502920" y="1810440"/>
            <a:ext cx="365040" cy="3466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502920" y="1810440"/>
            <a:ext cx="365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9"/>
          <p:cNvSpPr/>
          <p:nvPr/>
        </p:nvSpPr>
        <p:spPr>
          <a:xfrm>
            <a:off x="960120" y="1847160"/>
            <a:ext cx="10728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Second player joins by code → both lobbies update instantly via WebSocket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10"/>
          <p:cNvSpPr/>
          <p:nvPr/>
        </p:nvSpPr>
        <p:spPr>
          <a:xfrm>
            <a:off x="502920" y="2267640"/>
            <a:ext cx="365040" cy="3466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11"/>
          <p:cNvSpPr/>
          <p:nvPr/>
        </p:nvSpPr>
        <p:spPr>
          <a:xfrm>
            <a:off x="502920" y="2267640"/>
            <a:ext cx="365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2"/>
          <p:cNvSpPr/>
          <p:nvPr/>
        </p:nvSpPr>
        <p:spPr>
          <a:xfrm>
            <a:off x="960120" y="2304360"/>
            <a:ext cx="10728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can kick players → kicked player sees notification and is redirected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13"/>
          <p:cNvSpPr/>
          <p:nvPr/>
        </p:nvSpPr>
        <p:spPr>
          <a:xfrm>
            <a:off x="502920" y="2724840"/>
            <a:ext cx="365040" cy="3466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14"/>
          <p:cNvSpPr/>
          <p:nvPr/>
        </p:nvSpPr>
        <p:spPr>
          <a:xfrm>
            <a:off x="502920" y="2724840"/>
            <a:ext cx="365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5"/>
          <p:cNvSpPr/>
          <p:nvPr/>
        </p:nvSpPr>
        <p:spPr>
          <a:xfrm>
            <a:off x="960120" y="2761560"/>
            <a:ext cx="10728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starts game → all players transition together to the game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6"/>
          <p:cNvSpPr/>
          <p:nvPr/>
        </p:nvSpPr>
        <p:spPr>
          <a:xfrm>
            <a:off x="502920" y="3273480"/>
            <a:ext cx="11185200" cy="34668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7"/>
          <p:cNvSpPr/>
          <p:nvPr/>
        </p:nvSpPr>
        <p:spPr>
          <a:xfrm>
            <a:off x="685800" y="3337560"/>
            <a:ext cx="1081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Component architecture: 10 reusable components across 5 views  ·  Light / dark mode toggle  ·  STOMP/SockJS real-time (all polling removed)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8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9 / 13  ·  ~60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Testing Strategy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104 tests, all passing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Table 4"/>
          <p:cNvGraphicFramePr/>
          <p:nvPr/>
        </p:nvGraphicFramePr>
        <p:xfrm>
          <a:off x="502920" y="1307520"/>
          <a:ext cx="10652400" cy="175392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6995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Count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What they catch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Model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27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Ticket invariants — MrX transport stays at -1 after use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Service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46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State transitions, validation, broadcast call verification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Lifecycle integration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Full create → join → start → leave flows, real repository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Controller (HTTP)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Request routing, error response shape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App context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 context loads without errors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5"/>
          <p:cNvSpPr/>
          <p:nvPr/>
        </p:nvSpPr>
        <p:spPr>
          <a:xfrm>
            <a:off x="502920" y="324612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Philosophy:  Tests target specific invariants, not just happy paths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502920" y="356616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startGame_setsCurrentPlayerIdToMrX  — fails if line 121 of GameService is deleted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502920" y="382212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leaveGame_mrXLeaves_mrXRemovedFromPlayerList  — previous tests only checked phase, not player 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502920" y="407808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joinGame_lowercaseCodeIsNormalized  — catches missing toUpperCase() in joinGame()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10 / 13  ·  ~30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Trade-offs &amp; Limitations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Critical thinking: what I chose and why it could bite 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2" name="Table 4"/>
          <p:cNvGraphicFramePr/>
          <p:nvPr/>
        </p:nvGraphicFramePr>
        <p:xfrm>
          <a:off x="502920" y="1307520"/>
          <a:ext cx="10652400" cy="175392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43484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Decision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Trade-off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Mitigation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In-memory state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Server restart kills all games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Acceptable v1; Redis adapter behind GameRepository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authentication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Anyone with a join code can 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By design — simplicity for a demo game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WebSocket (STOMP)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More complex than REST polling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Spring support; already working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Pre-computed GeoJSON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Must build Wellington graph manually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One-time effort; no per-request API cost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MapLibre GL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40 ms slower at baseline than Leaflet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WebGL wins at scale; Leaflet degrades under graph load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</a:tbl>
          </a:graphicData>
        </a:graphic>
      </p:graphicFrame>
      <p:sp>
        <p:nvSpPr>
          <p:cNvPr id="153" name="TextBox 5"/>
          <p:cNvSpPr/>
          <p:nvPr/>
        </p:nvSpPr>
        <p:spPr>
          <a:xfrm>
            <a:off x="502920" y="324612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Current limitations: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502920" y="353880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Game engine (move validation, catch detection, win conditions) not yet implemented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502920" y="379476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Wellington graph data not yet populated  ← critical path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502920" y="4050360"/>
            <a:ext cx="11185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Docker deployment planned for T2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9"/>
          <p:cNvSpPr/>
          <p:nvPr/>
        </p:nvSpPr>
        <p:spPr>
          <a:xfrm>
            <a:off x="502920" y="626364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Sustainability:  No per-request cloud APIs · runs on minimal infra · open-source stack · no vendor lock-in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0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11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Future Plan (SMART)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3"/>
          <p:cNvSpPr/>
          <p:nvPr/>
        </p:nvSpPr>
        <p:spPr>
          <a:xfrm>
            <a:off x="502920" y="960120"/>
            <a:ext cx="3636360" cy="34668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4"/>
          <p:cNvSpPr/>
          <p:nvPr/>
        </p:nvSpPr>
        <p:spPr>
          <a:xfrm>
            <a:off x="576000" y="1014840"/>
            <a:ext cx="3544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3 — Game Engine  (T1 remaining weeks)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5"/>
          <p:cNvSpPr/>
          <p:nvPr/>
        </p:nvSpPr>
        <p:spPr>
          <a:xfrm>
            <a:off x="502920" y="137160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Move validation against graph edges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6"/>
          <p:cNvSpPr/>
          <p:nvPr/>
        </p:nvSpPr>
        <p:spPr>
          <a:xfrm>
            <a:off x="502920" y="158796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Ticket decrement on move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7"/>
          <p:cNvSpPr/>
          <p:nvPr/>
        </p:nvSpPr>
        <p:spPr>
          <a:xfrm>
            <a:off x="502920" y="180468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Turn rotation  (MrX → each detective → repeat)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8"/>
          <p:cNvSpPr/>
          <p:nvPr/>
        </p:nvSpPr>
        <p:spPr>
          <a:xfrm>
            <a:off x="502920" y="202104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Catch detection and win conditions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9"/>
          <p:cNvSpPr/>
          <p:nvPr/>
        </p:nvSpPr>
        <p:spPr>
          <a:xfrm>
            <a:off x="502920" y="223776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Reveal rounds  (3, 8, 13, 18, 24)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10"/>
          <p:cNvSpPr/>
          <p:nvPr/>
        </p:nvSpPr>
        <p:spPr>
          <a:xfrm>
            <a:off x="502920" y="245412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two players complete a full round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11"/>
          <p:cNvSpPr/>
          <p:nvPr/>
        </p:nvSpPr>
        <p:spPr>
          <a:xfrm>
            <a:off x="4277160" y="960120"/>
            <a:ext cx="3636360" cy="3466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12"/>
          <p:cNvSpPr/>
          <p:nvPr/>
        </p:nvSpPr>
        <p:spPr>
          <a:xfrm>
            <a:off x="4350240" y="1014840"/>
            <a:ext cx="3544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4 — Map + Wellington Graph  (T2 Wks 1–3)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13"/>
          <p:cNvSpPr/>
          <p:nvPr/>
        </p:nvSpPr>
        <p:spPr>
          <a:xfrm>
            <a:off x="4277160" y="137160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Build Wellington node/edge graph  (~100 nodes, 4 modes)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4"/>
          <p:cNvSpPr/>
          <p:nvPr/>
        </p:nvSpPr>
        <p:spPr>
          <a:xfrm>
            <a:off x="4277160" y="158796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MapLibre GL rendering of nodes and edges on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5"/>
          <p:cNvSpPr/>
          <p:nvPr/>
        </p:nvSpPr>
        <p:spPr>
          <a:xfrm>
            <a:off x="4277160" y="180468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Node selection and ticket picker UI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16"/>
          <p:cNvSpPr/>
          <p:nvPr/>
        </p:nvSpPr>
        <p:spPr>
          <a:xfrm>
            <a:off x="4277160" y="202104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player selects and submits a move on the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17"/>
          <p:cNvSpPr/>
          <p:nvPr/>
        </p:nvSpPr>
        <p:spPr>
          <a:xfrm>
            <a:off x="8051760" y="960120"/>
            <a:ext cx="3636360" cy="3466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8"/>
          <p:cNvSpPr/>
          <p:nvPr/>
        </p:nvSpPr>
        <p:spPr>
          <a:xfrm>
            <a:off x="8124840" y="1014840"/>
            <a:ext cx="3544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5 — Deploy + Evaluate  (T2 Wks 4–8)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9"/>
          <p:cNvSpPr/>
          <p:nvPr/>
        </p:nvSpPr>
        <p:spPr>
          <a:xfrm>
            <a:off x="8051760" y="137160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Docker containerisation  (backend + frontend)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0"/>
          <p:cNvSpPr/>
          <p:nvPr/>
        </p:nvSpPr>
        <p:spPr>
          <a:xfrm>
            <a:off x="8051760" y="158796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Host on VUW infrastructure or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21"/>
          <p:cNvSpPr/>
          <p:nvPr/>
        </p:nvSpPr>
        <p:spPr>
          <a:xfrm>
            <a:off x="8051760" y="180468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SUS usability evaluation  (target: 5+ participants)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22"/>
          <p:cNvSpPr/>
          <p:nvPr/>
        </p:nvSpPr>
        <p:spPr>
          <a:xfrm>
            <a:off x="8051760" y="202104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Mutation testing and performance benchmarking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23"/>
          <p:cNvSpPr/>
          <p:nvPr/>
        </p:nvSpPr>
        <p:spPr>
          <a:xfrm>
            <a:off x="8051760" y="2237760"/>
            <a:ext cx="3636360" cy="4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full game playable end-to-end by external users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24"/>
          <p:cNvSpPr/>
          <p:nvPr/>
        </p:nvSpPr>
        <p:spPr>
          <a:xfrm>
            <a:off x="502920" y="629100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Risk:  Wellington graph data is the critical path. Mitigation: 20-node prototype first, then expand.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25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12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"/>
          <p:cNvSpPr/>
          <p:nvPr/>
        </p:nvSpPr>
        <p:spPr>
          <a:xfrm>
            <a:off x="502920" y="320040"/>
            <a:ext cx="63360" cy="8222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667440" y="274320"/>
            <a:ext cx="1118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Summary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667440" y="8413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Where we are at end of Trimester 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4"/>
          <p:cNvSpPr/>
          <p:nvPr/>
        </p:nvSpPr>
        <p:spPr>
          <a:xfrm>
            <a:off x="502920" y="1353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Full specification written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5"/>
          <p:cNvSpPr/>
          <p:nvPr/>
        </p:nvSpPr>
        <p:spPr>
          <a:xfrm>
            <a:off x="502920" y="1668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Map library evaluated with benchmark data — MapLibre GL selected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502920" y="1983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System architecture designed  (state machine, player hierarchy, WebSocket)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7"/>
          <p:cNvSpPr/>
          <p:nvPr/>
        </p:nvSpPr>
        <p:spPr>
          <a:xfrm>
            <a:off x="502920" y="2298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backend:  6 endpoints, WebSocket, role assignment, 104 tests passing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502920" y="2613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frontend:  create / join / lobby with real-time updates + light/dark mode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9"/>
          <p:cNvSpPr/>
          <p:nvPr/>
        </p:nvSpPr>
        <p:spPr>
          <a:xfrm>
            <a:off x="502920" y="2928240"/>
            <a:ext cx="111852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OpenAPI spec in sync, enforced by pre-commit hook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10"/>
          <p:cNvSpPr/>
          <p:nvPr/>
        </p:nvSpPr>
        <p:spPr>
          <a:xfrm>
            <a:off x="502920" y="3426120"/>
            <a:ext cx="11185200" cy="7765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11"/>
          <p:cNvSpPr/>
          <p:nvPr/>
        </p:nvSpPr>
        <p:spPr>
          <a:xfrm>
            <a:off x="731520" y="35175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Next:  Game engine  (move validation · catch detection · win conditions)  +  real Wellington map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2"/>
          <p:cNvSpPr/>
          <p:nvPr/>
        </p:nvSpPr>
        <p:spPr>
          <a:xfrm>
            <a:off x="731520" y="383760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Tools:  Claude Code  +  Docker  +  Spring Boot  — industry workflow from day one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3"/>
          <p:cNvSpPr/>
          <p:nvPr/>
        </p:nvSpPr>
        <p:spPr>
          <a:xfrm>
            <a:off x="502920" y="653796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13 / 13  ·  ~15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999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2026-05-25T13:56:40Z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