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CF1F30F-C387-4100-9068-C828F99FA3F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DDE83AD-9FA2-4495-AEDC-BF2BB043F8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DFD8C55-FA91-4C7E-9FF9-268B07AF874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74FC0AF6-4944-439D-946A-2CA0908FACE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32C7292-ABAD-48AF-8C67-6D582F4404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B3D1FE1-5145-4ABB-A0F6-6BB948FE6A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514966A-7402-40B5-B8A6-75CF44ACE0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834E9BB-8784-4354-A8DA-299AC20F5C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843E284-73BD-4EEA-ADDB-EDE352149E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8CE3900-2EB9-4B59-9863-0C2D950881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AB590DF-CCD5-4291-86EA-54FBEA6A52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2560320"/>
            <a:ext cx="108720" cy="18277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4360" tIns="45000" rIns="5436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320040" y="1463040"/>
            <a:ext cx="115506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Scotland Yard</a:t>
            </a:r>
            <a:endParaRPr lang="en-US" sz="6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320040" y="2468880"/>
            <a:ext cx="11550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Wellington Edition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5"/>
          <p:cNvSpPr/>
          <p:nvPr/>
        </p:nvSpPr>
        <p:spPr>
          <a:xfrm>
            <a:off x="320040" y="5852160"/>
            <a:ext cx="115506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Ming Bao  ·  ENGR489  ·  Victoria University of Wellington  </a:t>
            </a: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·  June 2026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Oval 6"/>
          <p:cNvSpPr/>
          <p:nvPr/>
        </p:nvSpPr>
        <p:spPr>
          <a:xfrm>
            <a:off x="10314360" y="896040"/>
            <a:ext cx="401400" cy="401400"/>
          </a:xfrm>
          <a:prstGeom prst="ellipse">
            <a:avLst/>
          </a:prstGeom>
          <a:solidFill>
            <a:srgbClr val="2563E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Oval 7"/>
          <p:cNvSpPr/>
          <p:nvPr/>
        </p:nvSpPr>
        <p:spPr>
          <a:xfrm>
            <a:off x="10991160" y="1755720"/>
            <a:ext cx="327960" cy="32796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Oval 8"/>
          <p:cNvSpPr/>
          <p:nvPr/>
        </p:nvSpPr>
        <p:spPr>
          <a:xfrm>
            <a:off x="9921240" y="2148840"/>
            <a:ext cx="273240" cy="27324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Oval 9"/>
          <p:cNvSpPr/>
          <p:nvPr/>
        </p:nvSpPr>
        <p:spPr>
          <a:xfrm>
            <a:off x="11411640" y="804600"/>
            <a:ext cx="218520" cy="218520"/>
          </a:xfrm>
          <a:prstGeom prst="ellipse">
            <a:avLst/>
          </a:prstGeom>
          <a:solidFill>
            <a:srgbClr val="1E293B"/>
          </a:solidFill>
          <a:ln>
            <a:solidFill>
              <a:srgbClr val="2563E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Problem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Board games don't scale to the real world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502920" y="135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(1983) is a classic hidden-movement deduction game — physical board only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502920" y="166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digital versions (Board Game Arena, Steam) use fictional maps — no real geography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502920" y="2057400"/>
            <a:ext cx="111848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SWEN capstone projects at VUW are rarely suitable for open days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8"/>
          <p:cNvSpPr/>
          <p:nvPr/>
        </p:nvSpPr>
        <p:spPr>
          <a:xfrm>
            <a:off x="502920" y="243576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Gap:** No web-based platform for Scotland Yard on a real city map, in real time, in a browser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Rectangle 9"/>
          <p:cNvSpPr/>
          <p:nvPr/>
        </p:nvSpPr>
        <p:spPr>
          <a:xfrm>
            <a:off x="502920" y="3065400"/>
            <a:ext cx="11184840" cy="65736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685800" y="3111120"/>
            <a:ext cx="108190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Goal:  Build a multiplayer Scotland Yard game on Wellington's real transport network — playable in a browser, and visually striking enough to be a department showpiece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Background Research: Related Work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57200" y="914400"/>
            <a:ext cx="11430000" cy="5486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Existing website: https://ssy.pvx.sk/ 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played through QR codes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Tabletop Simulator from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requires TT sim: $29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not automated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Scotland yard game on steam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 mostly negative reviews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	</a:t>
            </a:r>
            <a:r>
              <a:rPr lang="en-US" sz="16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-$22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1"/>
          <p:cNvSpPr/>
          <p:nvPr/>
        </p:nvSpPr>
        <p:spPr>
          <a:xfrm>
            <a:off x="502920" y="320040"/>
            <a:ext cx="6300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Map Library Evaluation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2847960" y="914400"/>
            <a:ext cx="6524280" cy="548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ctangle 1"/>
          <p:cNvSpPr/>
          <p:nvPr/>
        </p:nvSpPr>
        <p:spPr>
          <a:xfrm>
            <a:off x="502920" y="320040"/>
            <a:ext cx="63000" cy="365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2"/>
          <p:cNvSpPr/>
          <p:nvPr/>
        </p:nvSpPr>
        <p:spPr>
          <a:xfrm>
            <a:off x="667440" y="274320"/>
            <a:ext cx="11184840" cy="94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 Stack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4"/>
          <p:cNvSpPr/>
          <p:nvPr/>
        </p:nvSpPr>
        <p:spPr>
          <a:xfrm>
            <a:off x="502920" y="914400"/>
            <a:ext cx="11184840" cy="4744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685800" y="914400"/>
            <a:ext cx="108190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AI-assisted development:  Claude Code (Anthropic's CLI) — architecture decisions, code generation, test writing. All output is reviewed and owned. This is how modern engineers work.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6"/>
          <p:cNvGraphicFramePr/>
          <p:nvPr/>
        </p:nvGraphicFramePr>
        <p:xfrm>
          <a:off x="502920" y="1518480"/>
          <a:ext cx="10652400" cy="204624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  <a:gridCol w="553212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Backend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Java 21 + Spring Boot 4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Industry standard; WebSocket/STOMP built-in, familiarity 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Frontend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Vue 3 + TypeScript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  <a:ea typeface="Noto Sans CJK SC"/>
                        </a:rPr>
                        <a:t>Reactive, typed, composable, </a:t>
                      </a: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familiarity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 API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MapLibre GL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Prev Slide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Communication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STOMP over SockJS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Spring's native WebSocket protocol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Deployment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Docker, home server, cloudflare  (planned T2)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Reproducible deploys, free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Testing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JUnit 5 + Mockito + AssertJ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Java test stack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System Architecture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2505600" y="1219680"/>
            <a:ext cx="6867000" cy="5181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Backend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Sprint 1–2 complete — Lobby + Role </a:t>
            </a: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Assignment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5" name="Table 4"/>
          <p:cNvGraphicFramePr/>
          <p:nvPr/>
        </p:nvGraphicFramePr>
        <p:xfrm>
          <a:off x="502920" y="1307520"/>
          <a:ext cx="10652400" cy="2046240"/>
        </p:xfrm>
        <a:graphic>
          <a:graphicData uri="http://schemas.openxmlformats.org/drawingml/2006/table">
            <a:tbl>
              <a:tblPr/>
              <a:tblGrid>
                <a:gridCol w="1097280"/>
                <a:gridCol w="4846320"/>
                <a:gridCol w="4709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Path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Purpose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create game, return join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join by code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get current state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/api/games/{id}/start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starts, assigns roles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leave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/api/games/{id}/players/{pid}/kick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host kicks player from lobby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96" name="TextBox 5"/>
          <p:cNvSpPr/>
          <p:nvPr/>
        </p:nvSpPr>
        <p:spPr>
          <a:xfrm>
            <a:off x="502920" y="352044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WebSocket: server broadcasts to /topic/games/{id} after every state change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502920" y="377640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OpenAPI 3.1 spec kept in sync via a pre-commit git hook — build fails if API surface changes without updating the spec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What's Been Built: Frontend + Demo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Working lobby flow  (live demo or video)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4"/>
          <p:cNvSpPr/>
          <p:nvPr/>
        </p:nvSpPr>
        <p:spPr>
          <a:xfrm>
            <a:off x="502920" y="13532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5"/>
          <p:cNvSpPr/>
          <p:nvPr/>
        </p:nvSpPr>
        <p:spPr>
          <a:xfrm>
            <a:off x="502920" y="13532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6"/>
          <p:cNvSpPr/>
          <p:nvPr/>
        </p:nvSpPr>
        <p:spPr>
          <a:xfrm>
            <a:off x="960120" y="13899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Player creates game → lands on lobby with 6-char join code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7"/>
          <p:cNvSpPr/>
          <p:nvPr/>
        </p:nvSpPr>
        <p:spPr>
          <a:xfrm>
            <a:off x="502920" y="18104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TextBox 8"/>
          <p:cNvSpPr/>
          <p:nvPr/>
        </p:nvSpPr>
        <p:spPr>
          <a:xfrm>
            <a:off x="502920" y="18104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9"/>
          <p:cNvSpPr/>
          <p:nvPr/>
        </p:nvSpPr>
        <p:spPr>
          <a:xfrm>
            <a:off x="960120" y="18471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Second player joins by code → both lobbies update instantly via WebSocket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10"/>
          <p:cNvSpPr/>
          <p:nvPr/>
        </p:nvSpPr>
        <p:spPr>
          <a:xfrm>
            <a:off x="502920" y="22676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1"/>
          <p:cNvSpPr/>
          <p:nvPr/>
        </p:nvSpPr>
        <p:spPr>
          <a:xfrm>
            <a:off x="502920" y="22676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2"/>
          <p:cNvSpPr/>
          <p:nvPr/>
        </p:nvSpPr>
        <p:spPr>
          <a:xfrm>
            <a:off x="960120" y="23043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can kick players → kicked player sees notification and is redirected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13"/>
          <p:cNvSpPr/>
          <p:nvPr/>
        </p:nvSpPr>
        <p:spPr>
          <a:xfrm>
            <a:off x="502920" y="2724840"/>
            <a:ext cx="364680" cy="346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4"/>
          <p:cNvSpPr/>
          <p:nvPr/>
        </p:nvSpPr>
        <p:spPr>
          <a:xfrm>
            <a:off x="502920" y="2724840"/>
            <a:ext cx="3646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5"/>
          <p:cNvSpPr/>
          <p:nvPr/>
        </p:nvSpPr>
        <p:spPr>
          <a:xfrm>
            <a:off x="960120" y="2761560"/>
            <a:ext cx="107276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Host starts game → all players transition together to the game board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Testing Strategy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104 tests, all passing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6" name="Table 4"/>
          <p:cNvGraphicFramePr/>
          <p:nvPr/>
        </p:nvGraphicFramePr>
        <p:xfrm>
          <a:off x="502920" y="1307520"/>
          <a:ext cx="10652400" cy="175392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699516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Layer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Count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What they catch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Model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27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Ticket invariants — MrX transport stays at -1 after use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Service unit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46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State transitions, validation, broadcast call verification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Lifecycle integration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17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Full create → join → start → leave flows, real repository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Controller (HTTP)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Request routing, error response shape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App context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3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Spring context loads without errors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</a:tbl>
          </a:graphicData>
        </a:graphic>
      </p:graphicFrame>
      <p:sp>
        <p:nvSpPr>
          <p:cNvPr id="117" name="TextBox 5"/>
          <p:cNvSpPr/>
          <p:nvPr/>
        </p:nvSpPr>
        <p:spPr>
          <a:xfrm>
            <a:off x="502920" y="324612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Philosophy:  Tests target specific invariants, not just </a:t>
            </a:r>
            <a:r>
              <a:rPr lang="en-US" sz="1300" b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happy paths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6"/>
          <p:cNvSpPr/>
          <p:nvPr/>
        </p:nvSpPr>
        <p:spPr>
          <a:xfrm>
            <a:off x="502920" y="356616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startGame_setsCurrentPlayerIdToMrX 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— fails if line 121 of GameService is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deleted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7"/>
          <p:cNvSpPr/>
          <p:nvPr/>
        </p:nvSpPr>
        <p:spPr>
          <a:xfrm>
            <a:off x="502920" y="382212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leaveGame_mrXLeaves_mrXRemoved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FromPlayerList  — previous tests only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checked phase, not player list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502920" y="4078080"/>
            <a:ext cx="11184840" cy="51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eg. joinGame_lowercaseCodeIsNormalized  — catches missing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toUpperCase() in joinGame()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502920" y="653796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10 / 13  ·  ~30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2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TextBox 17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Trade-offs &amp; Limitations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Table 2"/>
          <p:cNvGraphicFramePr/>
          <p:nvPr/>
        </p:nvGraphicFramePr>
        <p:xfrm>
          <a:off x="441000" y="930240"/>
          <a:ext cx="10652400" cy="1461240"/>
        </p:xfrm>
        <a:graphic>
          <a:graphicData uri="http://schemas.openxmlformats.org/drawingml/2006/table">
            <a:tbl>
              <a:tblPr/>
              <a:tblGrid>
                <a:gridCol w="2286000"/>
                <a:gridCol w="3931920"/>
                <a:gridCol w="4434840"/>
              </a:tblGrid>
              <a:tr h="29232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Decision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Trade-off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Mitigation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Persistency</a:t>
                      </a:r>
                      <a:endParaRPr lang="en-US" sz="1200" b="1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Players and games are temporary but security can be ignored to an extent</a:t>
                      </a:r>
                      <a:endParaRPr lang="en-US" sz="1200" b="0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Good enough for what the game is designed for</a:t>
                      </a:r>
                      <a:endParaRPr lang="en-US" sz="1200" b="0" u="none" strike="noStrike">
                        <a:solidFill>
                          <a:srgbClr val="CBD5E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No authentication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Anyone with a join code can join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By design — for open days and play with friends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WebSocket (STOMP)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More complex than REST polling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Standard Spring support; already working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62133"/>
                    </a:solidFill>
                  </a:tcPr>
                </a:tc>
              </a:tr>
              <a:tr h="29232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Pre-computed GeoJSON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Must build Wellington graph manually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CBD5E1"/>
                          </a:solidFill>
                          <a:effectLst/>
                          <a:uFillTx/>
                          <a:latin typeface="Calibri"/>
                        </a:rPr>
                        <a:t>One-time effort; no per-request API cost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25" name="TextBox 25"/>
          <p:cNvSpPr/>
          <p:nvPr/>
        </p:nvSpPr>
        <p:spPr>
          <a:xfrm>
            <a:off x="457200" y="2852280"/>
            <a:ext cx="31993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F4444"/>
                </a:solidFill>
                <a:effectLst/>
                <a:uFillTx/>
                <a:latin typeface="Calibri"/>
              </a:rPr>
              <a:t>Current limitations: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6"/>
          <p:cNvSpPr/>
          <p:nvPr/>
        </p:nvSpPr>
        <p:spPr>
          <a:xfrm>
            <a:off x="473760" y="31402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Game engine (move validation, catch detection, </a:t>
            </a: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win conditions) not yet implemented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7"/>
          <p:cNvSpPr/>
          <p:nvPr/>
        </p:nvSpPr>
        <p:spPr>
          <a:xfrm>
            <a:off x="473760" y="33688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Wellington graph data not yet populated 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8"/>
          <p:cNvSpPr/>
          <p:nvPr/>
        </p:nvSpPr>
        <p:spPr>
          <a:xfrm>
            <a:off x="473760" y="3597480"/>
            <a:ext cx="1118484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Deployment planned for T2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Box 2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Progress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502920" y="6537960"/>
            <a:ext cx="11184840" cy="24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11 / 13  ·  ~45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"/>
          <p:cNvPicPr/>
          <p:nvPr/>
        </p:nvPicPr>
        <p:blipFill>
          <a:blip r:embed="rId1"/>
          <a:stretch/>
        </p:blipFill>
        <p:spPr>
          <a:xfrm>
            <a:off x="2286000" y="1371600"/>
            <a:ext cx="7315200" cy="48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"/>
          <p:cNvSpPr/>
          <p:nvPr/>
        </p:nvSpPr>
        <p:spPr>
          <a:xfrm>
            <a:off x="7086600" y="1828800"/>
            <a:ext cx="73080" cy="4343400"/>
          </a:xfrm>
          <a:prstGeom prst="line">
            <a:avLst/>
          </a:prstGeom>
          <a:ln w="54720">
            <a:solidFill>
              <a:srgbClr val="C500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17360" tIns="72360" rIns="117360" bIns="7236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502920" y="320040"/>
            <a:ext cx="63000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667440" y="274320"/>
            <a:ext cx="11184840" cy="51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Future Plan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4261320" y="1594080"/>
            <a:ext cx="3636000" cy="34632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4328640" y="1642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4 — Game Engine 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4255560" y="19994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Move validation against graph edges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4255560" y="22158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Ticket decrement on move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7"/>
          <p:cNvSpPr/>
          <p:nvPr/>
        </p:nvSpPr>
        <p:spPr>
          <a:xfrm>
            <a:off x="4255560" y="243252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Turn rotation  (MrX → each detective → repeat)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4255560" y="264888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Catch detection and win conditions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9"/>
          <p:cNvSpPr/>
          <p:nvPr/>
        </p:nvSpPr>
        <p:spPr>
          <a:xfrm>
            <a:off x="4255560" y="28656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Reveal rounds  (3, 8, 13, 18, 24)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4255560" y="308196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two players complete a full round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Rectangle 11"/>
          <p:cNvSpPr/>
          <p:nvPr/>
        </p:nvSpPr>
        <p:spPr>
          <a:xfrm>
            <a:off x="457200" y="1596960"/>
            <a:ext cx="3636000" cy="34632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530280" y="1651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3 — Map + Wellington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3"/>
          <p:cNvSpPr/>
          <p:nvPr/>
        </p:nvSpPr>
        <p:spPr>
          <a:xfrm>
            <a:off x="457200" y="2008440"/>
            <a:ext cx="36360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Build Wellington node/edge graph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4"/>
          <p:cNvSpPr/>
          <p:nvPr/>
        </p:nvSpPr>
        <p:spPr>
          <a:xfrm>
            <a:off x="457200" y="222480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MapLibre GL rendering of nodes and edges on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5"/>
          <p:cNvSpPr/>
          <p:nvPr/>
        </p:nvSpPr>
        <p:spPr>
          <a:xfrm>
            <a:off x="457200" y="244152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Node selection and ticket picker UI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16"/>
          <p:cNvSpPr/>
          <p:nvPr/>
        </p:nvSpPr>
        <p:spPr>
          <a:xfrm>
            <a:off x="457200" y="265788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player selects and submits a move on the real map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17"/>
          <p:cNvSpPr/>
          <p:nvPr/>
        </p:nvSpPr>
        <p:spPr>
          <a:xfrm>
            <a:off x="8051760" y="1587960"/>
            <a:ext cx="3636000" cy="346320"/>
          </a:xfrm>
          <a:prstGeom prst="rect">
            <a:avLst/>
          </a:prstGeom>
          <a:solidFill>
            <a:srgbClr val="F59E0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18"/>
          <p:cNvSpPr/>
          <p:nvPr/>
        </p:nvSpPr>
        <p:spPr>
          <a:xfrm>
            <a:off x="8124840" y="1642680"/>
            <a:ext cx="354456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0F172A"/>
                </a:solidFill>
                <a:effectLst/>
                <a:uFillTx/>
                <a:latin typeface="Calibri"/>
              </a:rPr>
              <a:t>Sprint 5 — Deploy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9"/>
          <p:cNvSpPr/>
          <p:nvPr/>
        </p:nvSpPr>
        <p:spPr>
          <a:xfrm>
            <a:off x="8051760" y="19994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Docker containerisation  (backend + frontend)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0"/>
          <p:cNvSpPr/>
          <p:nvPr/>
        </p:nvSpPr>
        <p:spPr>
          <a:xfrm>
            <a:off x="8051760" y="2215800"/>
            <a:ext cx="3636000" cy="25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Host on home server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23"/>
          <p:cNvSpPr/>
          <p:nvPr/>
        </p:nvSpPr>
        <p:spPr>
          <a:xfrm>
            <a:off x="8051760" y="2481840"/>
            <a:ext cx="3636000" cy="4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BD5E1"/>
                </a:solidFill>
                <a:effectLst/>
                <a:uFillTx/>
                <a:latin typeface="Calibri"/>
              </a:rPr>
              <a:t>• Milestone:  full game playable end-to-end by external users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502920" y="320040"/>
            <a:ext cx="63000" cy="821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1680" tIns="45000" rIns="316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67440" y="274320"/>
            <a:ext cx="1118484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Summary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667440" y="841320"/>
            <a:ext cx="1118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i="1" u="none" strike="noStrike">
                <a:solidFill>
                  <a:srgbClr val="60A5FA"/>
                </a:solidFill>
                <a:effectLst/>
                <a:uFillTx/>
                <a:latin typeface="Calibri"/>
              </a:rPr>
              <a:t>Where we are at end of Trimester 1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502920" y="135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Full specification written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502920" y="166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Map library evaluated with benchmark data — MapLibre GL selected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6"/>
          <p:cNvSpPr/>
          <p:nvPr/>
        </p:nvSpPr>
        <p:spPr>
          <a:xfrm>
            <a:off x="502920" y="198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System architecture designed  (state machine, player hierarchy, WebSocket)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502920" y="229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backend:  6 endpoints, WebSocket, role </a:t>
            </a: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assignment, 104 tests passing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502920" y="2613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Working frontend:  create / join / lobby with real-time updates + light/dark mode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9"/>
          <p:cNvSpPr/>
          <p:nvPr/>
        </p:nvSpPr>
        <p:spPr>
          <a:xfrm>
            <a:off x="502920" y="2928240"/>
            <a:ext cx="1118484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C55E"/>
                </a:solidFill>
                <a:effectLst/>
                <a:uFillTx/>
                <a:latin typeface="Calibri"/>
              </a:rPr>
              <a:t>• ✅ OpenAPI spec in sync, enforced by pre-commit hook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ectangle 10"/>
          <p:cNvSpPr/>
          <p:nvPr/>
        </p:nvSpPr>
        <p:spPr>
          <a:xfrm>
            <a:off x="502920" y="3426120"/>
            <a:ext cx="11184840" cy="460080"/>
          </a:xfrm>
          <a:prstGeom prst="rect">
            <a:avLst/>
          </a:prstGeom>
          <a:solidFill>
            <a:srgbClr val="1E293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11"/>
          <p:cNvSpPr/>
          <p:nvPr/>
        </p:nvSpPr>
        <p:spPr>
          <a:xfrm>
            <a:off x="731520" y="3517560"/>
            <a:ext cx="107276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Next:  Game engine  (move validation · catch detection · win conditions)  +  real Wellington map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3"/>
          <p:cNvSpPr/>
          <p:nvPr/>
        </p:nvSpPr>
        <p:spPr>
          <a:xfrm>
            <a:off x="502920" y="6537960"/>
            <a:ext cx="1118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Slide 13 / 13  ·  ~15 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1435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2026-05-26T01:39:31Z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