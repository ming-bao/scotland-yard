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5DE1B51-5C28-4055-8C0E-2D5A682B08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109737-EFF3-493D-807D-9EFD09FCF8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D173500-1670-4DD8-800D-822E33CFEC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AB09256-FDEA-4D65-A90F-F7E179F9FF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4E33E44-8470-461D-A948-A762DC449B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18EC80-A426-48D3-B00D-ED8B03A912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018B29-7467-41EA-9453-037C646A87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89BA914-28E0-4685-AA6A-7556EC78CB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30BC7C-E6A9-420E-AADF-61DE6F54EA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75DF0F-F86F-44AD-A0EA-7AA1581F0B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420933D-3DA0-4A60-89D9-333A763E0F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app.swaggerhub.com/apis/aaaa-df0/scotland-yard-wellington-api/0.1.4" TargetMode="External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"/>
          <p:cNvSpPr/>
          <p:nvPr/>
        </p:nvSpPr>
        <p:spPr>
          <a:xfrm>
            <a:off x="320040" y="1463040"/>
            <a:ext cx="115498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Scotland Yard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320040" y="2468880"/>
            <a:ext cx="11549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i="1" u="none" strike="noStrike">
                <a:solidFill>
                  <a:srgbClr val="60A5FA"/>
                </a:solidFill>
                <a:effectLst/>
                <a:uFillTx/>
                <a:latin typeface="Calibri"/>
              </a:rPr>
              <a:t>Wellington Edition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320040" y="5852160"/>
            <a:ext cx="1154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Ming Bao  ·  ENGR489  ·  Victoria University of Wellington  ·  June 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Oval 6"/>
          <p:cNvSpPr/>
          <p:nvPr/>
        </p:nvSpPr>
        <p:spPr>
          <a:xfrm>
            <a:off x="10314360" y="896040"/>
            <a:ext cx="400680" cy="4006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Oval 7"/>
          <p:cNvSpPr/>
          <p:nvPr/>
        </p:nvSpPr>
        <p:spPr>
          <a:xfrm>
            <a:off x="10991160" y="1755720"/>
            <a:ext cx="327240" cy="327240"/>
          </a:xfrm>
          <a:prstGeom prst="ellipse">
            <a:avLst/>
          </a:prstGeom>
          <a:solidFill>
            <a:srgbClr val="1E293B"/>
          </a:solidFill>
          <a:ln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Oval 8"/>
          <p:cNvSpPr/>
          <p:nvPr/>
        </p:nvSpPr>
        <p:spPr>
          <a:xfrm>
            <a:off x="9921240" y="2148840"/>
            <a:ext cx="272520" cy="272520"/>
          </a:xfrm>
          <a:prstGeom prst="ellipse">
            <a:avLst/>
          </a:prstGeom>
          <a:solidFill>
            <a:srgbClr val="1E293B"/>
          </a:solidFill>
          <a:ln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Oval 9"/>
          <p:cNvSpPr/>
          <p:nvPr/>
        </p:nvSpPr>
        <p:spPr>
          <a:xfrm>
            <a:off x="11411640" y="804600"/>
            <a:ext cx="217800" cy="217800"/>
          </a:xfrm>
          <a:prstGeom prst="ellipse">
            <a:avLst/>
          </a:prstGeom>
          <a:solidFill>
            <a:srgbClr val="1E293B"/>
          </a:solidFill>
          <a:ln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502920" y="320040"/>
            <a:ext cx="62280" cy="365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667440" y="274320"/>
            <a:ext cx="1118412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Problem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02920" y="1353240"/>
            <a:ext cx="111841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Scotland Yard is a classic hidden-movement deduction game - physical board only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02920" y="1668240"/>
            <a:ext cx="111841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Existing digital versions (Board Game Arena, Steam) use fictional maps and are not fully online and automatic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502920" y="2057400"/>
            <a:ext cx="11184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SWEN capstone projects at VUW are rarely suitable for open days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502920" y="2435760"/>
            <a:ext cx="11184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Gap:** No web-based platform for Scotland Yard on a real city map, in real time, in a browser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9"/>
          <p:cNvSpPr/>
          <p:nvPr/>
        </p:nvSpPr>
        <p:spPr>
          <a:xfrm>
            <a:off x="457200" y="3914640"/>
            <a:ext cx="11184120" cy="656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640080" y="3960360"/>
            <a:ext cx="10818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60A5FA"/>
                </a:solidFill>
                <a:effectLst/>
                <a:uFillTx/>
                <a:latin typeface="Calibri"/>
              </a:rPr>
              <a:t>Goal:  Build a multiplayer Scotland Yard game on Wellington's real transport network — playable in a browser, and visually striking enough to be a department showpiece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502920" y="320040"/>
            <a:ext cx="62280" cy="365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667440" y="274320"/>
            <a:ext cx="1118412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Background Research: Related Work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57200" y="914400"/>
            <a:ext cx="11429280" cy="30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Existing website: https://ssy.pvx.sk/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- played through QR codes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Tabletop Simulator from steam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- requires TT sim: $29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- not automated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Scotland yard game on steam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- mostly negative reviews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-bad AI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-not fully online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	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-$22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502920" y="320040"/>
            <a:ext cx="62280" cy="364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667440" y="274320"/>
            <a:ext cx="111841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 Stack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Table 6"/>
          <p:cNvGraphicFramePr/>
          <p:nvPr/>
        </p:nvGraphicFramePr>
        <p:xfrm>
          <a:off x="502920" y="1518480"/>
          <a:ext cx="11384280" cy="2367720"/>
        </p:xfrm>
        <a:graphic>
          <a:graphicData uri="http://schemas.openxmlformats.org/drawingml/2006/table">
            <a:tbl>
              <a:tblPr/>
              <a:tblGrid>
                <a:gridCol w="1493280"/>
                <a:gridCol w="2687760"/>
                <a:gridCol w="2687760"/>
                <a:gridCol w="4515480"/>
              </a:tblGrid>
              <a:tr h="3661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Layer</a:t>
                      </a:r>
                      <a:endParaRPr lang="en-US" sz="12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Options</a:t>
                      </a:r>
                      <a:endParaRPr lang="en-US" sz="12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Selection</a:t>
                      </a:r>
                      <a:endParaRPr lang="en-US" sz="12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Why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Backend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Java, JS, Unity</a:t>
                      </a:r>
                      <a:endParaRPr lang="en-US" sz="1200" b="0" u="none" strike="noStrike">
                        <a:solidFill>
                          <a:srgbClr val="CBD5E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Java 21 + Spring Boot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Familiarity, works well with graphs, no need for complex engines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Frontend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Vue, React, JS game engine</a:t>
                      </a:r>
                      <a:endParaRPr lang="en-US" sz="1200" b="0" u="none" strike="noStrike">
                        <a:solidFill>
                          <a:srgbClr val="CBD5E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Vue + TypeScript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Noto Sans CJK SC"/>
                        </a:rPr>
                        <a:t>Reactive, typed, composable, familiarity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Map API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Next slide</a:t>
                      </a:r>
                      <a:endParaRPr lang="en-US" sz="1200" b="0" u="none" strike="noStrike">
                        <a:solidFill>
                          <a:srgbClr val="CBD5E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MapLibre GL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Next slide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Communication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Websocket</a:t>
                      </a:r>
                      <a:endParaRPr lang="en-US" sz="1200" b="0" u="none" strike="noStrike">
                        <a:solidFill>
                          <a:srgbClr val="CBD5E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Websocket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Built in compatibility with js and sprintboot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Deployment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Cloud (AWS, Azure), university</a:t>
                      </a:r>
                      <a:endParaRPr lang="en-US" sz="1200" b="0" u="none" strike="noStrike">
                        <a:solidFill>
                          <a:srgbClr val="CBD5E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Docker, home server, cloudflare  (planned T2)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Reproducible deploys, free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502920" y="320040"/>
            <a:ext cx="62280" cy="364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667440" y="274320"/>
            <a:ext cx="1118412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Map Library Evaluation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2847960" y="914400"/>
            <a:ext cx="6523560" cy="548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502920" y="320040"/>
            <a:ext cx="62280" cy="365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667440" y="274320"/>
            <a:ext cx="1118412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Architecture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2505600" y="1219680"/>
            <a:ext cx="6866280" cy="51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502920" y="320040"/>
            <a:ext cx="62280" cy="821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667440" y="274320"/>
            <a:ext cx="1118412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What's Been Built: Backend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67440" y="841320"/>
            <a:ext cx="11184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0A5FA"/>
                </a:solidFill>
                <a:effectLst/>
                <a:uFillTx/>
                <a:latin typeface="Calibri"/>
              </a:rPr>
              <a:t>Sprint 1–2 complete — Lobby + Role Assignment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" name="Table 4"/>
          <p:cNvGraphicFramePr/>
          <p:nvPr/>
        </p:nvGraphicFramePr>
        <p:xfrm>
          <a:off x="502920" y="1307520"/>
          <a:ext cx="10652400" cy="2046240"/>
        </p:xfrm>
        <a:graphic>
          <a:graphicData uri="http://schemas.openxmlformats.org/drawingml/2006/table">
            <a:tbl>
              <a:tblPr/>
              <a:tblGrid>
                <a:gridCol w="1097280"/>
                <a:gridCol w="4846320"/>
                <a:gridCol w="4709160"/>
              </a:tblGrid>
              <a:tr h="2923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Path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Purpose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POST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/api/games/create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create game, return join code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POST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/api/games/join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join by code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GET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/api/games/{id}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get current state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POST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/api/games/{id}/start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host starts, assigns roles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DEL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/api/games/{id}/players/{pid}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leave/kick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</a:tr>
            </a:tbl>
          </a:graphicData>
        </a:graphic>
      </p:graphicFrame>
      <p:sp>
        <p:nvSpPr>
          <p:cNvPr id="92" name="TextBox 5"/>
          <p:cNvSpPr/>
          <p:nvPr/>
        </p:nvSpPr>
        <p:spPr>
          <a:xfrm>
            <a:off x="502920" y="3520440"/>
            <a:ext cx="11184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WebSocket: server broadcasts to /topic/games/{id} after every state change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502920" y="3776400"/>
            <a:ext cx="111841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link to swaggerhub </a:t>
            </a: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  <a:hlinkClick r:id="rId1"/>
              </a:rPr>
              <a:t>https://app.swaggerhub.com/apis/aaaa-df0/scotland-yard-wellington-api/0.1.4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502920" y="320040"/>
            <a:ext cx="62280" cy="821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667440" y="274320"/>
            <a:ext cx="1118412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What's Been Built: Frontend + Demo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667440" y="841320"/>
            <a:ext cx="11184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0A5FA"/>
                </a:solidFill>
                <a:effectLst/>
                <a:uFillTx/>
                <a:latin typeface="Calibri"/>
              </a:rPr>
              <a:t>Working lobby flow  (live demo or video)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502920" y="1353240"/>
            <a:ext cx="363960" cy="345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502920" y="1353240"/>
            <a:ext cx="363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960120" y="1389960"/>
            <a:ext cx="10726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Player 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creates 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game → 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lands on 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lobby with 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6-char join 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code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7"/>
          <p:cNvSpPr/>
          <p:nvPr/>
        </p:nvSpPr>
        <p:spPr>
          <a:xfrm>
            <a:off x="502920" y="1810440"/>
            <a:ext cx="363960" cy="345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502920" y="1810440"/>
            <a:ext cx="363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9"/>
          <p:cNvSpPr/>
          <p:nvPr/>
        </p:nvSpPr>
        <p:spPr>
          <a:xfrm>
            <a:off x="960120" y="1847160"/>
            <a:ext cx="10726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Second player joins by code → both lobbies update instantly via WebSocket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10"/>
          <p:cNvSpPr/>
          <p:nvPr/>
        </p:nvSpPr>
        <p:spPr>
          <a:xfrm>
            <a:off x="502920" y="2267640"/>
            <a:ext cx="363960" cy="345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502920" y="2267640"/>
            <a:ext cx="363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2"/>
          <p:cNvSpPr/>
          <p:nvPr/>
        </p:nvSpPr>
        <p:spPr>
          <a:xfrm>
            <a:off x="960120" y="2304360"/>
            <a:ext cx="10726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Host can kick players → kicked player sees notification and is redirected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3"/>
          <p:cNvSpPr/>
          <p:nvPr/>
        </p:nvSpPr>
        <p:spPr>
          <a:xfrm>
            <a:off x="502920" y="2724840"/>
            <a:ext cx="363960" cy="345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4"/>
          <p:cNvSpPr/>
          <p:nvPr/>
        </p:nvSpPr>
        <p:spPr>
          <a:xfrm>
            <a:off x="502920" y="2724840"/>
            <a:ext cx="363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5"/>
          <p:cNvSpPr/>
          <p:nvPr/>
        </p:nvSpPr>
        <p:spPr>
          <a:xfrm>
            <a:off x="960120" y="2761560"/>
            <a:ext cx="107269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Host starts game → all players transition together to the game board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2"/>
          <p:cNvSpPr/>
          <p:nvPr/>
        </p:nvSpPr>
        <p:spPr>
          <a:xfrm>
            <a:off x="502920" y="320040"/>
            <a:ext cx="62280" cy="365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7"/>
          <p:cNvSpPr/>
          <p:nvPr/>
        </p:nvSpPr>
        <p:spPr>
          <a:xfrm>
            <a:off x="667440" y="274320"/>
            <a:ext cx="11184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Trade-offs &amp; Limitations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" name="Table 2"/>
          <p:cNvGraphicFramePr/>
          <p:nvPr/>
        </p:nvGraphicFramePr>
        <p:xfrm>
          <a:off x="441000" y="930240"/>
          <a:ext cx="10652400" cy="16092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4434840"/>
              </a:tblGrid>
              <a:tr h="2923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Decision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Trade-off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Mitigation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No Persistency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Players and games are temporary but security can be ignored to an extent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Good enough for what the game is designed for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No authentication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Anyone with a join code can join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By design — for open days and play with friends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WebSocket (STOMP)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More complex than REST polling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Standard Spring support; already working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2133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Pre-computed GeoJSON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Must build Wellington graph manually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</a:rPr>
                        <a:t>One-time effort; no per-request API cost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2" name="TextBox 25"/>
          <p:cNvSpPr/>
          <p:nvPr/>
        </p:nvSpPr>
        <p:spPr>
          <a:xfrm>
            <a:off x="457200" y="2852280"/>
            <a:ext cx="3198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Current limitations: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6"/>
          <p:cNvSpPr/>
          <p:nvPr/>
        </p:nvSpPr>
        <p:spPr>
          <a:xfrm>
            <a:off x="473760" y="3140280"/>
            <a:ext cx="11184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Game engine (move validation, catch detection, win conditions) not yet implemented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7"/>
          <p:cNvSpPr/>
          <p:nvPr/>
        </p:nvSpPr>
        <p:spPr>
          <a:xfrm>
            <a:off x="473760" y="3368880"/>
            <a:ext cx="11184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Wellington graph data not yet populated 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8"/>
          <p:cNvSpPr/>
          <p:nvPr/>
        </p:nvSpPr>
        <p:spPr>
          <a:xfrm>
            <a:off x="473760" y="3597480"/>
            <a:ext cx="11184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Deployment planned for T2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502920" y="320040"/>
            <a:ext cx="62280" cy="365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667440" y="274320"/>
            <a:ext cx="11184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Progress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502920" y="6537960"/>
            <a:ext cx="11184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Slide 11 / 13  ·  ~45 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2286000" y="1371600"/>
            <a:ext cx="7314480" cy="47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"/>
          <p:cNvSpPr/>
          <p:nvPr/>
        </p:nvSpPr>
        <p:spPr>
          <a:xfrm>
            <a:off x="7086600" y="1828800"/>
            <a:ext cx="73080" cy="4343400"/>
          </a:xfrm>
          <a:prstGeom prst="line">
            <a:avLst/>
          </a:prstGeom>
          <a:ln w="54720">
            <a:solidFill>
              <a:srgbClr val="C500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360" tIns="72360" rIns="36360" bIns="7236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502920" y="320040"/>
            <a:ext cx="62280" cy="365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667440" y="274320"/>
            <a:ext cx="11184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Next steps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4261320" y="1594080"/>
            <a:ext cx="3635280" cy="3456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4328640" y="1642680"/>
            <a:ext cx="3543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Sprint 4 — Game Engine 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4255560" y="199944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Move validation against graph edges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4255560" y="221580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Ticket decrement on move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4255560" y="243252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Turn rotation  (MrX → each detective → repeat)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4255560" y="264888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Catch detection and win conditions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4255560" y="286560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Reveal rounds  (3, 8, 13, 18, 24)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4255560" y="308196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Milestone:  two players complete a full 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11"/>
          <p:cNvSpPr/>
          <p:nvPr/>
        </p:nvSpPr>
        <p:spPr>
          <a:xfrm>
            <a:off x="457200" y="1596960"/>
            <a:ext cx="3635280" cy="3456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530280" y="1651680"/>
            <a:ext cx="3543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Sprint 3 — Map + Wellington Graph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457200" y="2008440"/>
            <a:ext cx="3635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Build Wellington node/edge graph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457200" y="222480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MapLibre GL rendering of nodes and edges on real map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457200" y="244152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Node selection and ticket picker UI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6"/>
          <p:cNvSpPr/>
          <p:nvPr/>
        </p:nvSpPr>
        <p:spPr>
          <a:xfrm>
            <a:off x="457200" y="265788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Milestone:  player selects and submits a move on the real map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7"/>
          <p:cNvSpPr/>
          <p:nvPr/>
        </p:nvSpPr>
        <p:spPr>
          <a:xfrm>
            <a:off x="8051760" y="1587960"/>
            <a:ext cx="3635280" cy="3456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8"/>
          <p:cNvSpPr/>
          <p:nvPr/>
        </p:nvSpPr>
        <p:spPr>
          <a:xfrm>
            <a:off x="8124840" y="1642680"/>
            <a:ext cx="35438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Sprint 5 — Deploy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8051760" y="199944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Docker containerisation  (backend + frontend)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0"/>
          <p:cNvSpPr/>
          <p:nvPr/>
        </p:nvSpPr>
        <p:spPr>
          <a:xfrm>
            <a:off x="8051760" y="2215800"/>
            <a:ext cx="3635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Host on home server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3"/>
          <p:cNvSpPr/>
          <p:nvPr/>
        </p:nvSpPr>
        <p:spPr>
          <a:xfrm>
            <a:off x="8051760" y="2481840"/>
            <a:ext cx="36352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Milestone:  full game playable end-to-end by external users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502920" y="320040"/>
            <a:ext cx="62280" cy="821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667440" y="274320"/>
            <a:ext cx="1118412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667440" y="841320"/>
            <a:ext cx="11184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0A5FA"/>
                </a:solidFill>
                <a:effectLst/>
                <a:uFillTx/>
                <a:latin typeface="Calibri"/>
              </a:rPr>
              <a:t>Where we are at end of Trimester 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502920" y="1353240"/>
            <a:ext cx="11184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2C55E"/>
                </a:solidFill>
                <a:effectLst/>
                <a:uFillTx/>
                <a:latin typeface="Calibri"/>
              </a:rPr>
              <a:t>• ✅ Full specification written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502920" y="1668240"/>
            <a:ext cx="11184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2C55E"/>
                </a:solidFill>
                <a:effectLst/>
                <a:uFillTx/>
                <a:latin typeface="Calibri"/>
              </a:rPr>
              <a:t>• ✅ Map library evaluated with benchmark data — MapLibre GL selected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502920" y="1983240"/>
            <a:ext cx="11184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2C55E"/>
                </a:solidFill>
                <a:effectLst/>
                <a:uFillTx/>
                <a:latin typeface="Calibri"/>
              </a:rPr>
              <a:t>• ✅ System architecture designed  (state machine, player hierarchy, WebSocket)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7"/>
          <p:cNvSpPr/>
          <p:nvPr/>
        </p:nvSpPr>
        <p:spPr>
          <a:xfrm>
            <a:off x="502920" y="2298240"/>
            <a:ext cx="11184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2C55E"/>
                </a:solidFill>
                <a:effectLst/>
                <a:uFillTx/>
                <a:latin typeface="Calibri"/>
              </a:rPr>
              <a:t>• ✅ Working backend:  6 endpoints, WebSocket, role assignment, 104 tests passing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502920" y="2613240"/>
            <a:ext cx="11184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2C55E"/>
                </a:solidFill>
                <a:effectLst/>
                <a:uFillTx/>
                <a:latin typeface="Calibri"/>
              </a:rPr>
              <a:t>• ✅ Working frontend:  create / join / lobby with real-time updates + light/dark mode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9"/>
          <p:cNvSpPr/>
          <p:nvPr/>
        </p:nvSpPr>
        <p:spPr>
          <a:xfrm>
            <a:off x="502920" y="2928240"/>
            <a:ext cx="11184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2C55E"/>
                </a:solidFill>
                <a:effectLst/>
                <a:uFillTx/>
                <a:latin typeface="Calibri"/>
              </a:rPr>
              <a:t>• ✅ OpenAPI spec in sync, enforced by pre-commit hook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10"/>
          <p:cNvSpPr/>
          <p:nvPr/>
        </p:nvSpPr>
        <p:spPr>
          <a:xfrm>
            <a:off x="502920" y="3426120"/>
            <a:ext cx="11184120" cy="459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1"/>
          <p:cNvSpPr/>
          <p:nvPr/>
        </p:nvSpPr>
        <p:spPr>
          <a:xfrm>
            <a:off x="731520" y="3517560"/>
            <a:ext cx="10726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Next:  Game engine  (move validation · catch detection · win conditions)  +  real Wellington map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3"/>
          <p:cNvSpPr/>
          <p:nvPr/>
        </p:nvSpPr>
        <p:spPr>
          <a:xfrm>
            <a:off x="502920" y="6537960"/>
            <a:ext cx="11184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Slide 13 / 13  ·  ~15 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8712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2026-06-02T01:21:57Z</dcterms:modified>
  <cp:revision>27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